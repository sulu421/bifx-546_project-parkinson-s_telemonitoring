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01" r:id="rId1"/>
  </p:sldMasterIdLst>
  <p:notesMasterIdLst>
    <p:notesMasterId r:id="rId23"/>
  </p:notesMasterIdLst>
  <p:sldIdLst>
    <p:sldId id="256" r:id="rId2"/>
    <p:sldId id="257" r:id="rId3"/>
    <p:sldId id="281" r:id="rId4"/>
    <p:sldId id="258" r:id="rId5"/>
    <p:sldId id="278" r:id="rId6"/>
    <p:sldId id="270" r:id="rId7"/>
    <p:sldId id="282" r:id="rId8"/>
    <p:sldId id="283" r:id="rId9"/>
    <p:sldId id="284" r:id="rId10"/>
    <p:sldId id="259" r:id="rId11"/>
    <p:sldId id="279" r:id="rId12"/>
    <p:sldId id="271" r:id="rId13"/>
    <p:sldId id="280" r:id="rId14"/>
    <p:sldId id="275" r:id="rId15"/>
    <p:sldId id="272" r:id="rId16"/>
    <p:sldId id="273" r:id="rId17"/>
    <p:sldId id="265" r:id="rId18"/>
    <p:sldId id="274" r:id="rId19"/>
    <p:sldId id="266" r:id="rId20"/>
    <p:sldId id="267" r:id="rId21"/>
    <p:sldId id="269" r:id="rId22"/>
  </p:sldIdLst>
  <p:sldSz cx="9144000" cy="5143500" type="screen16x9"/>
  <p:notesSz cx="51435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93547C2-7036-450F-84FC-31E4A937AC14}" v="122" dt="2026-03-18T23:56:36.70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45" d="100"/>
          <a:sy n="145" d="100"/>
        </p:scale>
        <p:origin x="100" y="-2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474662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2A8475-F42B-8FBD-35C8-57410214470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7BD1F6-9CE0-F992-A4E3-18FE30B75332}"/>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D030D339-B281-3E8C-F9CF-21E6F0EF926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6DF6C23-99C7-E2F6-3AF3-8E6BD3131FF8}"/>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271236259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866216" y="1085850"/>
            <a:ext cx="6619244" cy="2497186"/>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866216" y="3583035"/>
            <a:ext cx="6619244" cy="646065"/>
          </a:xfrm>
        </p:spPr>
        <p:txBody>
          <a:bodyPr anchor="t"/>
          <a:lstStyle>
            <a:lvl1pPr marL="0" indent="0" algn="l">
              <a:buNone/>
              <a:defRPr cap="all">
                <a:solidFill>
                  <a:schemeClr val="accent1">
                    <a:lumMod val="60000"/>
                    <a:lumOff val="40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322B248-7D5A-4B3B-815B-B3CD1201AE58}" type="datetimeFigureOut">
              <a:rPr lang="en-US" smtClean="0"/>
              <a:t>3/18/2026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330EDA-6689-4D85-BE19-BCA96285C258}" type="slidenum">
              <a:rPr lang="en-US" smtClean="0"/>
              <a:t>‹#›</a:t>
            </a:fld>
            <a:endParaRPr lang="en-US"/>
          </a:p>
        </p:txBody>
      </p:sp>
    </p:spTree>
    <p:extLst>
      <p:ext uri="{BB962C8B-B14F-4D97-AF65-F5344CB8AC3E}">
        <p14:creationId xmlns:p14="http://schemas.microsoft.com/office/powerpoint/2010/main" val="2980219623"/>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322B248-7D5A-4B3B-815B-B3CD1201AE58}" type="datetimeFigureOut">
              <a:rPr lang="en-US" smtClean="0"/>
              <a:t>3/18/2026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330EDA-6689-4D85-BE19-BCA96285C258}" type="slidenum">
              <a:rPr lang="en-US" smtClean="0"/>
              <a:t>‹#›</a:t>
            </a:fld>
            <a:endParaRPr lang="en-US"/>
          </a:p>
        </p:txBody>
      </p:sp>
    </p:spTree>
    <p:extLst>
      <p:ext uri="{BB962C8B-B14F-4D97-AF65-F5344CB8AC3E}">
        <p14:creationId xmlns:p14="http://schemas.microsoft.com/office/powerpoint/2010/main" val="4155491837"/>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66217" y="2146300"/>
            <a:ext cx="6619243" cy="1436735"/>
          </a:xfrm>
        </p:spPr>
        <p:txBody>
          <a:bodyPr anchor="b"/>
          <a:lstStyle>
            <a:lvl1pPr algn="l">
              <a:defRPr sz="3000" b="0" cap="none"/>
            </a:lvl1pPr>
          </a:lstStyle>
          <a:p>
            <a:r>
              <a:rPr lang="en-US"/>
              <a:t>Click to edit Master title style</a:t>
            </a:r>
            <a:endParaRPr lang="en-US" dirty="0"/>
          </a:p>
        </p:txBody>
      </p:sp>
      <p:sp>
        <p:nvSpPr>
          <p:cNvPr id="3" name="Text Placeholder 2"/>
          <p:cNvSpPr>
            <a:spLocks noGrp="1"/>
          </p:cNvSpPr>
          <p:nvPr>
            <p:ph type="body" idx="1"/>
          </p:nvPr>
        </p:nvSpPr>
        <p:spPr>
          <a:xfrm>
            <a:off x="866216" y="3583036"/>
            <a:ext cx="6619244" cy="645300"/>
          </a:xfrm>
        </p:spPr>
        <p:txBody>
          <a:bodyPr anchor="t"/>
          <a:lstStyle>
            <a:lvl1pPr marL="0" indent="0" algn="l">
              <a:buNone/>
              <a:defRPr sz="1500" cap="all">
                <a:solidFill>
                  <a:schemeClr val="accent1">
                    <a:lumMod val="60000"/>
                    <a:lumOff val="40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322B248-7D5A-4B3B-815B-B3CD1201AE58}" type="datetimeFigureOut">
              <a:rPr lang="en-US" smtClean="0"/>
              <a:t>3/18/2026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330EDA-6689-4D85-BE19-BCA96285C258}" type="slidenum">
              <a:rPr lang="en-US" smtClean="0"/>
              <a:t>‹#›</a:t>
            </a:fld>
            <a:endParaRPr lang="en-US"/>
          </a:p>
        </p:txBody>
      </p:sp>
    </p:spTree>
    <p:extLst>
      <p:ext uri="{BB962C8B-B14F-4D97-AF65-F5344CB8AC3E}">
        <p14:creationId xmlns:p14="http://schemas.microsoft.com/office/powerpoint/2010/main" val="2982875531"/>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27485" y="1545432"/>
            <a:ext cx="3297254" cy="3146822"/>
          </a:xfrm>
        </p:spPr>
        <p:txBody>
          <a:bodyPr>
            <a:normAutofit/>
          </a:bodyPr>
          <a:lstStyle>
            <a:lvl1pPr>
              <a:defRPr sz="1350"/>
            </a:lvl1pPr>
            <a:lvl2pPr>
              <a:defRPr sz="1200"/>
            </a:lvl2pPr>
            <a:lvl3pPr>
              <a:defRPr sz="1050"/>
            </a:lvl3pPr>
            <a:lvl4pPr>
              <a:defRPr sz="900"/>
            </a:lvl4pPr>
            <a:lvl5pPr>
              <a:defRPr sz="900"/>
            </a:lvl5pPr>
            <a:lvl6pPr>
              <a:defRPr sz="900"/>
            </a:lvl6pPr>
            <a:lvl7pPr>
              <a:defRPr sz="900"/>
            </a:lvl7pPr>
            <a:lvl8pPr>
              <a:defRPr sz="900"/>
            </a:lvl8pPr>
            <a:lvl9pPr>
              <a:defRPr sz="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240870" y="1542069"/>
            <a:ext cx="3297256" cy="3150184"/>
          </a:xfrm>
        </p:spPr>
        <p:txBody>
          <a:bodyPr>
            <a:normAutofit/>
          </a:bodyPr>
          <a:lstStyle>
            <a:lvl1pPr>
              <a:defRPr sz="1350"/>
            </a:lvl1pPr>
            <a:lvl2pPr>
              <a:defRPr sz="1200"/>
            </a:lvl2pPr>
            <a:lvl3pPr>
              <a:defRPr sz="1050"/>
            </a:lvl3pPr>
            <a:lvl4pPr>
              <a:defRPr sz="900"/>
            </a:lvl4pPr>
            <a:lvl5pPr>
              <a:defRPr sz="900"/>
            </a:lvl5pPr>
            <a:lvl6pPr>
              <a:defRPr sz="900"/>
            </a:lvl6pPr>
            <a:lvl7pPr>
              <a:defRPr sz="900"/>
            </a:lvl7pPr>
            <a:lvl8pPr>
              <a:defRPr sz="900"/>
            </a:lvl8pPr>
            <a:lvl9pPr>
              <a:defRPr sz="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322B248-7D5A-4B3B-815B-B3CD1201AE58}" type="datetimeFigureOut">
              <a:rPr lang="en-US" smtClean="0"/>
              <a:t>3/18/2026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330EDA-6689-4D85-BE19-BCA96285C258}" type="slidenum">
              <a:rPr lang="en-US" smtClean="0"/>
              <a:t>‹#›</a:t>
            </a:fld>
            <a:endParaRPr lang="en-US"/>
          </a:p>
        </p:txBody>
      </p:sp>
    </p:spTree>
    <p:extLst>
      <p:ext uri="{BB962C8B-B14F-4D97-AF65-F5344CB8AC3E}">
        <p14:creationId xmlns:p14="http://schemas.microsoft.com/office/powerpoint/2010/main" val="1887420169"/>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827485" y="1428750"/>
            <a:ext cx="3297254" cy="432197"/>
          </a:xfrm>
        </p:spPr>
        <p:txBody>
          <a:bodyPr anchor="b">
            <a:noAutofit/>
          </a:bodyPr>
          <a:lstStyle>
            <a:lvl1pPr marL="0" indent="0">
              <a:buNone/>
              <a:defRPr sz="1800" b="0">
                <a:solidFill>
                  <a:schemeClr val="accent1">
                    <a:lumMod val="60000"/>
                    <a:lumOff val="4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827485" y="1885950"/>
            <a:ext cx="3297254" cy="2806304"/>
          </a:xfrm>
        </p:spPr>
        <p:txBody>
          <a:bodyPr>
            <a:normAutofit/>
          </a:bodyPr>
          <a:lstStyle>
            <a:lvl1pPr>
              <a:defRPr sz="1350"/>
            </a:lvl1pPr>
            <a:lvl2pPr>
              <a:defRPr sz="1200"/>
            </a:lvl2pPr>
            <a:lvl3pPr>
              <a:defRPr sz="1050"/>
            </a:lvl3pPr>
            <a:lvl4pPr>
              <a:defRPr sz="900"/>
            </a:lvl4pPr>
            <a:lvl5pPr>
              <a:defRPr sz="900"/>
            </a:lvl5pPr>
            <a:lvl6pPr>
              <a:defRPr sz="900"/>
            </a:lvl6pPr>
            <a:lvl7pPr>
              <a:defRPr sz="900"/>
            </a:lvl7pPr>
            <a:lvl8pPr>
              <a:defRPr sz="900"/>
            </a:lvl8pPr>
            <a:lvl9pPr>
              <a:defRPr sz="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240872" y="1428750"/>
            <a:ext cx="3297254" cy="432197"/>
          </a:xfrm>
        </p:spPr>
        <p:txBody>
          <a:bodyPr anchor="b">
            <a:noAutofit/>
          </a:bodyPr>
          <a:lstStyle>
            <a:lvl1pPr marL="0" indent="0">
              <a:buNone/>
              <a:defRPr sz="1800" b="0">
                <a:solidFill>
                  <a:schemeClr val="accent1">
                    <a:lumMod val="60000"/>
                    <a:lumOff val="4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240872" y="1885950"/>
            <a:ext cx="3297254" cy="2806304"/>
          </a:xfrm>
        </p:spPr>
        <p:txBody>
          <a:bodyPr>
            <a:normAutofit/>
          </a:bodyPr>
          <a:lstStyle>
            <a:lvl1pPr>
              <a:defRPr sz="1350"/>
            </a:lvl1pPr>
            <a:lvl2pPr>
              <a:defRPr sz="1200"/>
            </a:lvl2pPr>
            <a:lvl3pPr>
              <a:defRPr sz="1050"/>
            </a:lvl3pPr>
            <a:lvl4pPr>
              <a:defRPr sz="900"/>
            </a:lvl4pPr>
            <a:lvl5pPr>
              <a:defRPr sz="900"/>
            </a:lvl5pPr>
            <a:lvl6pPr>
              <a:defRPr sz="900"/>
            </a:lvl6pPr>
            <a:lvl7pPr>
              <a:defRPr sz="900"/>
            </a:lvl7pPr>
            <a:lvl8pPr>
              <a:defRPr sz="900"/>
            </a:lvl8pPr>
            <a:lvl9pPr>
              <a:defRPr sz="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322B248-7D5A-4B3B-815B-B3CD1201AE58}" type="datetimeFigureOut">
              <a:rPr lang="en-US" smtClean="0"/>
              <a:t>3/18/2026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330EDA-6689-4D85-BE19-BCA96285C258}" type="slidenum">
              <a:rPr lang="en-US" smtClean="0"/>
              <a:t>‹#›</a:t>
            </a:fld>
            <a:endParaRPr lang="en-US"/>
          </a:p>
        </p:txBody>
      </p:sp>
    </p:spTree>
    <p:extLst>
      <p:ext uri="{BB962C8B-B14F-4D97-AF65-F5344CB8AC3E}">
        <p14:creationId xmlns:p14="http://schemas.microsoft.com/office/powerpoint/2010/main" val="1762987053"/>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9322B248-7D5A-4B3B-815B-B3CD1201AE58}" type="datetimeFigureOut">
              <a:rPr lang="en-US" smtClean="0"/>
              <a:t>3/18/2026</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B6330EDA-6689-4D85-BE19-BCA96285C258}" type="slidenum">
              <a:rPr lang="en-US" smtClean="0"/>
              <a:t>‹#›</a:t>
            </a:fld>
            <a:endParaRPr lang="en-US"/>
          </a:p>
        </p:txBody>
      </p:sp>
    </p:spTree>
    <p:extLst>
      <p:ext uri="{BB962C8B-B14F-4D97-AF65-F5344CB8AC3E}">
        <p14:creationId xmlns:p14="http://schemas.microsoft.com/office/powerpoint/2010/main" val="1348783735"/>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9322B248-7D5A-4B3B-815B-B3CD1201AE58}" type="datetimeFigureOut">
              <a:rPr lang="en-US" smtClean="0"/>
              <a:t>3/18/2026</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B6330EDA-6689-4D85-BE19-BCA96285C258}" type="slidenum">
              <a:rPr lang="en-US" smtClean="0"/>
              <a:t>‹#›</a:t>
            </a:fld>
            <a:endParaRPr lang="en-US"/>
          </a:p>
        </p:txBody>
      </p:sp>
    </p:spTree>
    <p:extLst>
      <p:ext uri="{BB962C8B-B14F-4D97-AF65-F5344CB8AC3E}">
        <p14:creationId xmlns:p14="http://schemas.microsoft.com/office/powerpoint/2010/main" val="1550461540"/>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6216" y="1085850"/>
            <a:ext cx="2550797" cy="1085850"/>
          </a:xfrm>
        </p:spPr>
        <p:txBody>
          <a:bodyPr anchor="b"/>
          <a:lstStyle>
            <a:lvl1pPr algn="l">
              <a:defRPr sz="1800" b="0"/>
            </a:lvl1pPr>
          </a:lstStyle>
          <a:p>
            <a:r>
              <a:rPr lang="en-US"/>
              <a:t>Click to edit Master title style</a:t>
            </a:r>
            <a:endParaRPr lang="en-US" dirty="0"/>
          </a:p>
        </p:txBody>
      </p:sp>
      <p:sp>
        <p:nvSpPr>
          <p:cNvPr id="3" name="Content Placeholder 2"/>
          <p:cNvSpPr>
            <a:spLocks noGrp="1"/>
          </p:cNvSpPr>
          <p:nvPr>
            <p:ph idx="1"/>
          </p:nvPr>
        </p:nvSpPr>
        <p:spPr>
          <a:xfrm>
            <a:off x="3588462" y="1085850"/>
            <a:ext cx="3896998" cy="3429000"/>
          </a:xfrm>
        </p:spPr>
        <p:txBody>
          <a:bodyPr anchor="ctr">
            <a:normAutofit/>
          </a:bodyPr>
          <a:lstStyle>
            <a:lvl1pPr>
              <a:defRPr sz="1500"/>
            </a:lvl1pPr>
            <a:lvl2pPr>
              <a:defRPr sz="1350"/>
            </a:lvl2pPr>
            <a:lvl3pPr>
              <a:defRPr sz="1200"/>
            </a:lvl3pPr>
            <a:lvl4pPr>
              <a:defRPr sz="1050"/>
            </a:lvl4pPr>
            <a:lvl5pPr>
              <a:defRPr sz="1050"/>
            </a:lvl5pPr>
            <a:lvl6pPr>
              <a:defRPr sz="1050"/>
            </a:lvl6pPr>
            <a:lvl7pPr>
              <a:defRPr sz="1050"/>
            </a:lvl7pPr>
            <a:lvl8pPr>
              <a:defRPr sz="1050"/>
            </a:lvl8pPr>
            <a:lvl9pPr>
              <a:defRPr sz="10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66216" y="2346961"/>
            <a:ext cx="2550797" cy="2171699"/>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7" name="Date Placeholder 4"/>
          <p:cNvSpPr>
            <a:spLocks noGrp="1"/>
          </p:cNvSpPr>
          <p:nvPr>
            <p:ph type="dt" sz="half" idx="10"/>
          </p:nvPr>
        </p:nvSpPr>
        <p:spPr/>
        <p:txBody>
          <a:bodyPr/>
          <a:lstStyle/>
          <a:p>
            <a:fld id="{9322B248-7D5A-4B3B-815B-B3CD1201AE58}" type="datetimeFigureOut">
              <a:rPr lang="en-US" smtClean="0"/>
              <a:t>3/18/2026</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B6330EDA-6689-4D85-BE19-BCA96285C258}" type="slidenum">
              <a:rPr lang="en-US" smtClean="0"/>
              <a:t>‹#›</a:t>
            </a:fld>
            <a:endParaRPr lang="en-US"/>
          </a:p>
        </p:txBody>
      </p:sp>
    </p:spTree>
    <p:extLst>
      <p:ext uri="{BB962C8B-B14F-4D97-AF65-F5344CB8AC3E}">
        <p14:creationId xmlns:p14="http://schemas.microsoft.com/office/powerpoint/2010/main" val="200901557"/>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5430" y="1390644"/>
            <a:ext cx="3819680" cy="1181106"/>
          </a:xfrm>
        </p:spPr>
        <p:txBody>
          <a:bodyPr anchor="b">
            <a:normAutofit/>
          </a:bodyPr>
          <a:lstStyle>
            <a:lvl1pPr algn="l">
              <a:defRPr sz="27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5212160" y="857250"/>
            <a:ext cx="2400300"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4" name="Text Placeholder 3"/>
          <p:cNvSpPr>
            <a:spLocks noGrp="1"/>
          </p:cNvSpPr>
          <p:nvPr>
            <p:ph type="body" sz="half" idx="2"/>
          </p:nvPr>
        </p:nvSpPr>
        <p:spPr>
          <a:xfrm>
            <a:off x="866216" y="2743200"/>
            <a:ext cx="3813734" cy="1028700"/>
          </a:xfrm>
        </p:spPr>
        <p:txBody>
          <a:bodyPr>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9322B248-7D5A-4B3B-815B-B3CD1201AE58}" type="datetimeFigureOut">
              <a:rPr lang="en-US" smtClean="0"/>
              <a:t>3/18/2026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330EDA-6689-4D85-BE19-BCA96285C258}" type="slidenum">
              <a:rPr lang="en-US" smtClean="0"/>
              <a:t>‹#›</a:t>
            </a:fld>
            <a:endParaRPr lang="en-US"/>
          </a:p>
        </p:txBody>
      </p:sp>
    </p:spTree>
    <p:extLst>
      <p:ext uri="{BB962C8B-B14F-4D97-AF65-F5344CB8AC3E}">
        <p14:creationId xmlns:p14="http://schemas.microsoft.com/office/powerpoint/2010/main" val="1811380867"/>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6217" y="3600440"/>
            <a:ext cx="6619243" cy="425054"/>
          </a:xfrm>
        </p:spPr>
        <p:txBody>
          <a:bodyPr anchor="b">
            <a:normAutofit/>
          </a:bodyPr>
          <a:lstStyle>
            <a:lvl1pPr algn="l">
              <a:defRPr sz="18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866216" y="514350"/>
            <a:ext cx="6619244" cy="27305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4" name="Text Placeholder 3"/>
          <p:cNvSpPr>
            <a:spLocks noGrp="1"/>
          </p:cNvSpPr>
          <p:nvPr>
            <p:ph type="body" sz="half" idx="2"/>
          </p:nvPr>
        </p:nvSpPr>
        <p:spPr>
          <a:xfrm>
            <a:off x="866217" y="4025494"/>
            <a:ext cx="6619242" cy="370284"/>
          </a:xfrm>
        </p:spPr>
        <p:txBody>
          <a:bodyPr>
            <a:normAutofit/>
          </a:bodyPr>
          <a:lstStyle>
            <a:lvl1pPr marL="0" indent="0">
              <a:buNone/>
              <a:defRPr sz="9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9322B248-7D5A-4B3B-815B-B3CD1201AE58}" type="datetimeFigureOut">
              <a:rPr lang="en-US" smtClean="0"/>
              <a:t>3/18/2026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330EDA-6689-4D85-BE19-BCA96285C258}" type="slidenum">
              <a:rPr lang="en-US" smtClean="0"/>
              <a:t>‹#›</a:t>
            </a:fld>
            <a:endParaRPr lang="en-US"/>
          </a:p>
        </p:txBody>
      </p:sp>
    </p:spTree>
    <p:extLst>
      <p:ext uri="{BB962C8B-B14F-4D97-AF65-F5344CB8AC3E}">
        <p14:creationId xmlns:p14="http://schemas.microsoft.com/office/powerpoint/2010/main" val="3831186944"/>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866216" y="1085850"/>
            <a:ext cx="6619244" cy="1485900"/>
          </a:xfrm>
        </p:spPr>
        <p:txBody>
          <a:bodyPr/>
          <a:lstStyle>
            <a:lvl1pPr>
              <a:defRPr sz="3600"/>
            </a:lvl1pPr>
          </a:lstStyle>
          <a:p>
            <a:r>
              <a:rPr lang="en-US"/>
              <a:t>Click to edit Master title style</a:t>
            </a:r>
            <a:endParaRPr lang="en-US" dirty="0"/>
          </a:p>
        </p:txBody>
      </p:sp>
      <p:sp>
        <p:nvSpPr>
          <p:cNvPr id="8" name="Text Placeholder 3"/>
          <p:cNvSpPr>
            <a:spLocks noGrp="1"/>
          </p:cNvSpPr>
          <p:nvPr>
            <p:ph type="body" sz="half" idx="2"/>
          </p:nvPr>
        </p:nvSpPr>
        <p:spPr>
          <a:xfrm>
            <a:off x="866216" y="2743200"/>
            <a:ext cx="6619244" cy="1771650"/>
          </a:xfrm>
        </p:spPr>
        <p:txBody>
          <a:bodyPr anchor="ctr">
            <a:normAutofit/>
          </a:bodyPr>
          <a:lstStyle>
            <a:lvl1pPr marL="0" indent="0">
              <a:buNone/>
              <a:defRPr sz="13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4" name="Date Placeholder 3"/>
          <p:cNvSpPr>
            <a:spLocks noGrp="1"/>
          </p:cNvSpPr>
          <p:nvPr>
            <p:ph type="dt" sz="half" idx="10"/>
          </p:nvPr>
        </p:nvSpPr>
        <p:spPr/>
        <p:txBody>
          <a:bodyPr/>
          <a:lstStyle/>
          <a:p>
            <a:fld id="{9322B248-7D5A-4B3B-815B-B3CD1201AE58}" type="datetimeFigureOut">
              <a:rPr lang="en-US" smtClean="0"/>
              <a:t>3/18/2026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330EDA-6689-4D85-BE19-BCA96285C258}" type="slidenum">
              <a:rPr lang="en-US" smtClean="0"/>
              <a:t>‹#›</a:t>
            </a:fld>
            <a:endParaRPr lang="en-US"/>
          </a:p>
        </p:txBody>
      </p:sp>
    </p:spTree>
    <p:extLst>
      <p:ext uri="{BB962C8B-B14F-4D97-AF65-F5344CB8AC3E}">
        <p14:creationId xmlns:p14="http://schemas.microsoft.com/office/powerpoint/2010/main" val="2885427234"/>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81100" y="1085850"/>
            <a:ext cx="5999486" cy="1742531"/>
          </a:xfrm>
        </p:spPr>
        <p:txBody>
          <a:bodyPr/>
          <a:lstStyle>
            <a:lvl1pPr>
              <a:defRPr sz="3600"/>
            </a:lvl1pPr>
          </a:lstStyle>
          <a:p>
            <a:r>
              <a:rPr lang="en-US"/>
              <a:t>Click to edit Master title style</a:t>
            </a:r>
            <a:endParaRPr lang="en-US" dirty="0"/>
          </a:p>
        </p:txBody>
      </p:sp>
      <p:sp>
        <p:nvSpPr>
          <p:cNvPr id="14" name="Text Placeholder 3"/>
          <p:cNvSpPr>
            <a:spLocks noGrp="1"/>
          </p:cNvSpPr>
          <p:nvPr>
            <p:ph type="body" sz="half" idx="13"/>
          </p:nvPr>
        </p:nvSpPr>
        <p:spPr>
          <a:xfrm>
            <a:off x="1447800" y="2828380"/>
            <a:ext cx="5459737" cy="256631"/>
          </a:xfrm>
        </p:spPr>
        <p:txBody>
          <a:bodyPr anchor="t">
            <a:normAutofit/>
          </a:bodyPr>
          <a:lstStyle>
            <a:lvl1pPr marL="0" indent="0">
              <a:buNone/>
              <a:defRPr lang="en-US" sz="1050" b="0" i="0" kern="1200" cap="small" dirty="0">
                <a:solidFill>
                  <a:schemeClr val="accent1">
                    <a:lumMod val="60000"/>
                    <a:lumOff val="40000"/>
                  </a:schemeClr>
                </a:solidFill>
                <a:latin typeface="+mj-lt"/>
                <a:ea typeface="+mj-ea"/>
                <a:cs typeface="+mj-cs"/>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10" name="Text Placeholder 3"/>
          <p:cNvSpPr>
            <a:spLocks noGrp="1"/>
          </p:cNvSpPr>
          <p:nvPr>
            <p:ph type="body" sz="half" idx="2"/>
          </p:nvPr>
        </p:nvSpPr>
        <p:spPr>
          <a:xfrm>
            <a:off x="866216" y="3262993"/>
            <a:ext cx="6619244" cy="1257300"/>
          </a:xfrm>
        </p:spPr>
        <p:txBody>
          <a:bodyPr anchor="ctr">
            <a:normAutofit/>
          </a:bodyPr>
          <a:lstStyle>
            <a:lvl1pPr marL="0" indent="0">
              <a:buNone/>
              <a:defRPr sz="13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4" name="Date Placeholder 3"/>
          <p:cNvSpPr>
            <a:spLocks noGrp="1"/>
          </p:cNvSpPr>
          <p:nvPr>
            <p:ph type="dt" sz="half" idx="10"/>
          </p:nvPr>
        </p:nvSpPr>
        <p:spPr/>
        <p:txBody>
          <a:bodyPr/>
          <a:lstStyle/>
          <a:p>
            <a:fld id="{9322B248-7D5A-4B3B-815B-B3CD1201AE58}" type="datetimeFigureOut">
              <a:rPr lang="en-US" smtClean="0"/>
              <a:t>3/18/2026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330EDA-6689-4D85-BE19-BCA96285C258}" type="slidenum">
              <a:rPr lang="en-US" smtClean="0"/>
              <a:t>‹#›</a:t>
            </a:fld>
            <a:endParaRPr lang="en-US"/>
          </a:p>
        </p:txBody>
      </p:sp>
      <p:sp>
        <p:nvSpPr>
          <p:cNvPr id="12" name="TextBox 11"/>
          <p:cNvSpPr txBox="1"/>
          <p:nvPr/>
        </p:nvSpPr>
        <p:spPr>
          <a:xfrm>
            <a:off x="673721" y="728440"/>
            <a:ext cx="601434" cy="1500411"/>
          </a:xfrm>
          <a:prstGeom prst="rect">
            <a:avLst/>
          </a:prstGeom>
          <a:noFill/>
        </p:spPr>
        <p:txBody>
          <a:bodyPr wrap="square" rtlCol="0">
            <a:spAutoFit/>
          </a:bodyPr>
          <a:lstStyle/>
          <a:p>
            <a:pPr algn="r"/>
            <a:r>
              <a:rPr lang="en-US" sz="9150" b="0" i="0" dirty="0">
                <a:solidFill>
                  <a:schemeClr val="accent1">
                    <a:lumMod val="60000"/>
                    <a:lumOff val="40000"/>
                  </a:schemeClr>
                </a:solidFill>
                <a:latin typeface="Arial"/>
                <a:ea typeface="+mj-ea"/>
                <a:cs typeface="+mj-cs"/>
              </a:rPr>
              <a:t>“</a:t>
            </a:r>
          </a:p>
        </p:txBody>
      </p:sp>
      <p:sp>
        <p:nvSpPr>
          <p:cNvPr id="11" name="TextBox 10"/>
          <p:cNvSpPr txBox="1"/>
          <p:nvPr/>
        </p:nvSpPr>
        <p:spPr>
          <a:xfrm>
            <a:off x="6997868" y="1960341"/>
            <a:ext cx="601434" cy="1500411"/>
          </a:xfrm>
          <a:prstGeom prst="rect">
            <a:avLst/>
          </a:prstGeom>
          <a:noFill/>
        </p:spPr>
        <p:txBody>
          <a:bodyPr wrap="square" rtlCol="0">
            <a:spAutoFit/>
          </a:bodyPr>
          <a:lstStyle/>
          <a:p>
            <a:pPr algn="r"/>
            <a:r>
              <a:rPr lang="en-US" sz="9150" b="0" i="0" dirty="0">
                <a:solidFill>
                  <a:schemeClr val="accent1">
                    <a:lumMod val="60000"/>
                    <a:lumOff val="40000"/>
                  </a:schemeClr>
                </a:solidFill>
                <a:latin typeface="Arial"/>
                <a:ea typeface="+mj-ea"/>
                <a:cs typeface="+mj-cs"/>
              </a:rPr>
              <a:t>”</a:t>
            </a:r>
          </a:p>
        </p:txBody>
      </p:sp>
    </p:spTree>
    <p:extLst>
      <p:ext uri="{BB962C8B-B14F-4D97-AF65-F5344CB8AC3E}">
        <p14:creationId xmlns:p14="http://schemas.microsoft.com/office/powerpoint/2010/main" val="220610852"/>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866216" y="2343151"/>
            <a:ext cx="6619244" cy="1239885"/>
          </a:xfrm>
        </p:spPr>
        <p:txBody>
          <a:bodyPr anchor="b"/>
          <a:lstStyle>
            <a:lvl1pPr algn="l">
              <a:defRPr sz="3000" b="0" cap="none"/>
            </a:lvl1pPr>
          </a:lstStyle>
          <a:p>
            <a:r>
              <a:rPr lang="en-US"/>
              <a:t>Click to edit Master title style</a:t>
            </a:r>
            <a:endParaRPr lang="en-US" dirty="0"/>
          </a:p>
        </p:txBody>
      </p:sp>
      <p:sp>
        <p:nvSpPr>
          <p:cNvPr id="3" name="Text Placeholder 2"/>
          <p:cNvSpPr>
            <a:spLocks noGrp="1"/>
          </p:cNvSpPr>
          <p:nvPr>
            <p:ph type="body" idx="1"/>
          </p:nvPr>
        </p:nvSpPr>
        <p:spPr>
          <a:xfrm>
            <a:off x="866216" y="3583036"/>
            <a:ext cx="6619244" cy="645300"/>
          </a:xfrm>
        </p:spPr>
        <p:txBody>
          <a:bodyPr anchor="t"/>
          <a:lstStyle>
            <a:lvl1pPr marL="0" indent="0" algn="l">
              <a:buNone/>
              <a:defRPr sz="1500" cap="none">
                <a:solidFill>
                  <a:schemeClr val="accent1">
                    <a:lumMod val="60000"/>
                    <a:lumOff val="40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322B248-7D5A-4B3B-815B-B3CD1201AE58}" type="datetimeFigureOut">
              <a:rPr lang="en-US" smtClean="0"/>
              <a:t>3/18/2026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330EDA-6689-4D85-BE19-BCA96285C258}" type="slidenum">
              <a:rPr lang="en-US" smtClean="0"/>
              <a:t>‹#›</a:t>
            </a:fld>
            <a:endParaRPr lang="en-US"/>
          </a:p>
        </p:txBody>
      </p:sp>
    </p:spTree>
    <p:extLst>
      <p:ext uri="{BB962C8B-B14F-4D97-AF65-F5344CB8AC3E}">
        <p14:creationId xmlns:p14="http://schemas.microsoft.com/office/powerpoint/2010/main" val="2283363624"/>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150"/>
            </a:lvl1pPr>
          </a:lstStyle>
          <a:p>
            <a:r>
              <a:rPr lang="en-US"/>
              <a:t>Click to edit Master title style</a:t>
            </a:r>
            <a:endParaRPr lang="en-US" dirty="0"/>
          </a:p>
        </p:txBody>
      </p:sp>
      <p:sp>
        <p:nvSpPr>
          <p:cNvPr id="3" name="Text Placeholder 2"/>
          <p:cNvSpPr>
            <a:spLocks noGrp="1"/>
          </p:cNvSpPr>
          <p:nvPr>
            <p:ph type="body" idx="1"/>
          </p:nvPr>
        </p:nvSpPr>
        <p:spPr>
          <a:xfrm>
            <a:off x="474710" y="1485900"/>
            <a:ext cx="2210150" cy="432197"/>
          </a:xfrm>
        </p:spPr>
        <p:txBody>
          <a:bodyPr anchor="b">
            <a:noAutofit/>
          </a:bodyPr>
          <a:lstStyle>
            <a:lvl1pPr marL="0" indent="0">
              <a:buNone/>
              <a:defRPr sz="1800" b="0">
                <a:solidFill>
                  <a:schemeClr val="accent1">
                    <a:lumMod val="60000"/>
                    <a:lumOff val="4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6" name="Text Placeholder 3"/>
          <p:cNvSpPr>
            <a:spLocks noGrp="1"/>
          </p:cNvSpPr>
          <p:nvPr>
            <p:ph type="body" sz="half" idx="15"/>
          </p:nvPr>
        </p:nvSpPr>
        <p:spPr>
          <a:xfrm>
            <a:off x="489347" y="2000250"/>
            <a:ext cx="2195513" cy="2692004"/>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Text Placeholder 4"/>
          <p:cNvSpPr>
            <a:spLocks noGrp="1"/>
          </p:cNvSpPr>
          <p:nvPr>
            <p:ph type="body" sz="quarter" idx="3"/>
          </p:nvPr>
        </p:nvSpPr>
        <p:spPr>
          <a:xfrm>
            <a:off x="2912745" y="1485900"/>
            <a:ext cx="2202181" cy="432197"/>
          </a:xfrm>
        </p:spPr>
        <p:txBody>
          <a:bodyPr anchor="b">
            <a:noAutofit/>
          </a:bodyPr>
          <a:lstStyle>
            <a:lvl1pPr marL="0" indent="0">
              <a:buNone/>
              <a:defRPr sz="1800" b="0">
                <a:solidFill>
                  <a:schemeClr val="accent1">
                    <a:lumMod val="60000"/>
                    <a:lumOff val="4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9" name="Text Placeholder 3"/>
          <p:cNvSpPr>
            <a:spLocks noGrp="1"/>
          </p:cNvSpPr>
          <p:nvPr>
            <p:ph type="body" sz="half" idx="16"/>
          </p:nvPr>
        </p:nvSpPr>
        <p:spPr>
          <a:xfrm>
            <a:off x="2904829" y="2000250"/>
            <a:ext cx="2210096" cy="2692004"/>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14" name="Text Placeholder 4"/>
          <p:cNvSpPr>
            <a:spLocks noGrp="1"/>
          </p:cNvSpPr>
          <p:nvPr>
            <p:ph type="body" sz="quarter" idx="13"/>
          </p:nvPr>
        </p:nvSpPr>
        <p:spPr>
          <a:xfrm>
            <a:off x="5343525" y="1485900"/>
            <a:ext cx="2199085" cy="432197"/>
          </a:xfrm>
        </p:spPr>
        <p:txBody>
          <a:bodyPr anchor="b">
            <a:noAutofit/>
          </a:bodyPr>
          <a:lstStyle>
            <a:lvl1pPr marL="0" indent="0">
              <a:buNone/>
              <a:defRPr sz="1800" b="0">
                <a:solidFill>
                  <a:schemeClr val="accent1">
                    <a:lumMod val="60000"/>
                    <a:lumOff val="4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0" name="Text Placeholder 3"/>
          <p:cNvSpPr>
            <a:spLocks noGrp="1"/>
          </p:cNvSpPr>
          <p:nvPr>
            <p:ph type="body" sz="half" idx="17"/>
          </p:nvPr>
        </p:nvSpPr>
        <p:spPr>
          <a:xfrm>
            <a:off x="5343525" y="2000250"/>
            <a:ext cx="2199085" cy="2692004"/>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cxnSp>
        <p:nvCxnSpPr>
          <p:cNvPr id="17" name="Straight Connector 16"/>
          <p:cNvCxnSpPr/>
          <p:nvPr/>
        </p:nvCxnSpPr>
        <p:spPr>
          <a:xfrm>
            <a:off x="2794607" y="1600200"/>
            <a:ext cx="0" cy="29718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5221670" y="1600200"/>
            <a:ext cx="0" cy="297516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9322B248-7D5A-4B3B-815B-B3CD1201AE58}" type="datetimeFigureOut">
              <a:rPr lang="en-US" smtClean="0"/>
              <a:t>3/18/2026</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330EDA-6689-4D85-BE19-BCA96285C258}" type="slidenum">
              <a:rPr lang="en-US" smtClean="0"/>
              <a:t>‹#›</a:t>
            </a:fld>
            <a:endParaRPr lang="en-US"/>
          </a:p>
        </p:txBody>
      </p:sp>
    </p:spTree>
    <p:extLst>
      <p:ext uri="{BB962C8B-B14F-4D97-AF65-F5344CB8AC3E}">
        <p14:creationId xmlns:p14="http://schemas.microsoft.com/office/powerpoint/2010/main" val="3203417917"/>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150"/>
            </a:lvl1pPr>
          </a:lstStyle>
          <a:p>
            <a:r>
              <a:rPr lang="en-US"/>
              <a:t>Click to edit Master title style</a:t>
            </a:r>
            <a:endParaRPr lang="en-US" dirty="0"/>
          </a:p>
        </p:txBody>
      </p:sp>
      <p:sp>
        <p:nvSpPr>
          <p:cNvPr id="3" name="Text Placeholder 2"/>
          <p:cNvSpPr>
            <a:spLocks noGrp="1"/>
          </p:cNvSpPr>
          <p:nvPr>
            <p:ph type="body" idx="1"/>
          </p:nvPr>
        </p:nvSpPr>
        <p:spPr>
          <a:xfrm>
            <a:off x="489347" y="3188212"/>
            <a:ext cx="2205038" cy="432197"/>
          </a:xfrm>
        </p:spPr>
        <p:txBody>
          <a:bodyPr anchor="b">
            <a:noAutofit/>
          </a:bodyPr>
          <a:lstStyle>
            <a:lvl1pPr marL="0" indent="0">
              <a:buNone/>
              <a:defRPr sz="1800" b="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9" name="Picture Placeholder 2"/>
          <p:cNvSpPr>
            <a:spLocks noGrp="1" noChangeAspect="1"/>
          </p:cNvSpPr>
          <p:nvPr>
            <p:ph type="pic" idx="15"/>
          </p:nvPr>
        </p:nvSpPr>
        <p:spPr>
          <a:xfrm>
            <a:off x="489347" y="1657350"/>
            <a:ext cx="2205038" cy="1143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22" name="Text Placeholder 3"/>
          <p:cNvSpPr>
            <a:spLocks noGrp="1"/>
          </p:cNvSpPr>
          <p:nvPr>
            <p:ph type="body" sz="half" idx="18"/>
          </p:nvPr>
        </p:nvSpPr>
        <p:spPr>
          <a:xfrm>
            <a:off x="489347" y="3620409"/>
            <a:ext cx="2205038" cy="494392"/>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Text Placeholder 4"/>
          <p:cNvSpPr>
            <a:spLocks noGrp="1"/>
          </p:cNvSpPr>
          <p:nvPr>
            <p:ph type="body" sz="quarter" idx="3"/>
          </p:nvPr>
        </p:nvSpPr>
        <p:spPr>
          <a:xfrm>
            <a:off x="2917032" y="3188212"/>
            <a:ext cx="2197894" cy="432197"/>
          </a:xfrm>
        </p:spPr>
        <p:txBody>
          <a:bodyPr anchor="b">
            <a:noAutofit/>
          </a:bodyPr>
          <a:lstStyle>
            <a:lvl1pPr marL="0" indent="0">
              <a:buNone/>
              <a:defRPr sz="1800" b="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30" name="Picture Placeholder 2"/>
          <p:cNvSpPr>
            <a:spLocks noGrp="1" noChangeAspect="1"/>
          </p:cNvSpPr>
          <p:nvPr>
            <p:ph type="pic" idx="21"/>
          </p:nvPr>
        </p:nvSpPr>
        <p:spPr>
          <a:xfrm>
            <a:off x="2917031" y="1657350"/>
            <a:ext cx="2197894" cy="1143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23" name="Text Placeholder 3"/>
          <p:cNvSpPr>
            <a:spLocks noGrp="1"/>
          </p:cNvSpPr>
          <p:nvPr>
            <p:ph type="body" sz="half" idx="19"/>
          </p:nvPr>
        </p:nvSpPr>
        <p:spPr>
          <a:xfrm>
            <a:off x="2916016" y="3620408"/>
            <a:ext cx="2200805" cy="494392"/>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14" name="Text Placeholder 4"/>
          <p:cNvSpPr>
            <a:spLocks noGrp="1"/>
          </p:cNvSpPr>
          <p:nvPr>
            <p:ph type="body" sz="quarter" idx="13"/>
          </p:nvPr>
        </p:nvSpPr>
        <p:spPr>
          <a:xfrm>
            <a:off x="5343525" y="3188212"/>
            <a:ext cx="2199085" cy="432197"/>
          </a:xfrm>
        </p:spPr>
        <p:txBody>
          <a:bodyPr anchor="b">
            <a:noAutofit/>
          </a:bodyPr>
          <a:lstStyle>
            <a:lvl1pPr marL="0" indent="0">
              <a:buNone/>
              <a:defRPr sz="1800" b="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31" name="Picture Placeholder 2"/>
          <p:cNvSpPr>
            <a:spLocks noGrp="1" noChangeAspect="1"/>
          </p:cNvSpPr>
          <p:nvPr>
            <p:ph type="pic" idx="22"/>
          </p:nvPr>
        </p:nvSpPr>
        <p:spPr>
          <a:xfrm>
            <a:off x="5343525" y="1657350"/>
            <a:ext cx="2199085" cy="1143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24" name="Text Placeholder 3"/>
          <p:cNvSpPr>
            <a:spLocks noGrp="1"/>
          </p:cNvSpPr>
          <p:nvPr>
            <p:ph type="body" sz="half" idx="20"/>
          </p:nvPr>
        </p:nvSpPr>
        <p:spPr>
          <a:xfrm>
            <a:off x="5343432" y="3620406"/>
            <a:ext cx="2201998" cy="494392"/>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cxnSp>
        <p:nvCxnSpPr>
          <p:cNvPr id="17" name="Straight Connector 16"/>
          <p:cNvCxnSpPr/>
          <p:nvPr/>
        </p:nvCxnSpPr>
        <p:spPr>
          <a:xfrm>
            <a:off x="2794607" y="1600200"/>
            <a:ext cx="0" cy="29718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5221670" y="1600200"/>
            <a:ext cx="0" cy="297516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9322B248-7D5A-4B3B-815B-B3CD1201AE58}" type="datetimeFigureOut">
              <a:rPr lang="en-US" smtClean="0"/>
              <a:t>3/18/2026</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330EDA-6689-4D85-BE19-BCA96285C258}" type="slidenum">
              <a:rPr lang="en-US" smtClean="0"/>
              <a:t>‹#›</a:t>
            </a:fld>
            <a:endParaRPr lang="en-US"/>
          </a:p>
        </p:txBody>
      </p:sp>
    </p:spTree>
    <p:extLst>
      <p:ext uri="{BB962C8B-B14F-4D97-AF65-F5344CB8AC3E}">
        <p14:creationId xmlns:p14="http://schemas.microsoft.com/office/powerpoint/2010/main" val="239687218"/>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322B248-7D5A-4B3B-815B-B3CD1201AE58}" type="datetimeFigureOut">
              <a:rPr lang="en-US" smtClean="0"/>
              <a:t>3/18/2026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330EDA-6689-4D85-BE19-BCA96285C258}" type="slidenum">
              <a:rPr lang="en-US" smtClean="0"/>
              <a:t>‹#›</a:t>
            </a:fld>
            <a:endParaRPr lang="en-US"/>
          </a:p>
        </p:txBody>
      </p:sp>
    </p:spTree>
    <p:extLst>
      <p:ext uri="{BB962C8B-B14F-4D97-AF65-F5344CB8AC3E}">
        <p14:creationId xmlns:p14="http://schemas.microsoft.com/office/powerpoint/2010/main" val="872566350"/>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28159" y="322660"/>
            <a:ext cx="1314451" cy="4369594"/>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489348" y="665561"/>
            <a:ext cx="5567362" cy="402669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322B248-7D5A-4B3B-815B-B3CD1201AE58}" type="datetimeFigureOut">
              <a:rPr lang="en-US" smtClean="0"/>
              <a:t>3/18/2026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330EDA-6689-4D85-BE19-BCA96285C258}" type="slidenum">
              <a:rPr lang="en-US" smtClean="0"/>
              <a:t>‹#›</a:t>
            </a:fld>
            <a:endParaRPr lang="en-US"/>
          </a:p>
        </p:txBody>
      </p:sp>
    </p:spTree>
    <p:extLst>
      <p:ext uri="{BB962C8B-B14F-4D97-AF65-F5344CB8AC3E}">
        <p14:creationId xmlns:p14="http://schemas.microsoft.com/office/powerpoint/2010/main" val="3054641640"/>
      </p:ext>
    </p:extLst>
  </p:cSld>
  <p:clrMapOvr>
    <a:masterClrMapping/>
  </p:clrMapOvr>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DEFAULT">
    <p:spTree>
      <p:nvGrpSpPr>
        <p:cNvPr id="1" name=""/>
        <p:cNvGrpSpPr/>
        <p:nvPr/>
      </p:nvGrpSpPr>
      <p:grpSpPr>
        <a:xfrm>
          <a:off x="0" y="0"/>
          <a:ext cx="0" cy="0"/>
          <a:chOff x="0" y="0"/>
          <a:chExt cx="0" cy="0"/>
        </a:xfrm>
      </p:grpSpPr>
    </p:spTree>
    <p:extLst>
      <p:ext uri="{BB962C8B-B14F-4D97-AF65-F5344CB8AC3E}">
        <p14:creationId xmlns:p14="http://schemas.microsoft.com/office/powerpoint/2010/main" val="11657889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3.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5.png"/><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4.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20">
            <a:extLst>
              <a:ext uri="{28A0092B-C50C-407E-A947-70E740481C1C}">
                <a14:useLocalDpi xmlns:a14="http://schemas.microsoft.com/office/drawing/2010/main" val="0"/>
              </a:ext>
            </a:extLst>
          </a:blip>
          <a:srcRect l="3644"/>
          <a:stretch/>
        </p:blipFill>
        <p:spPr>
          <a:xfrm>
            <a:off x="0" y="2002264"/>
            <a:ext cx="3026752" cy="3141236"/>
          </a:xfrm>
          <a:prstGeom prst="rect">
            <a:avLst/>
          </a:prstGeom>
        </p:spPr>
      </p:pic>
      <p:pic>
        <p:nvPicPr>
          <p:cNvPr id="7" name="Picture 6"/>
          <p:cNvPicPr>
            <a:picLocks noChangeAspect="1"/>
          </p:cNvPicPr>
          <p:nvPr/>
        </p:nvPicPr>
        <p:blipFill rotWithShape="1">
          <a:blip r:embed="rId21">
            <a:extLst>
              <a:ext uri="{28A0092B-C50C-407E-A947-70E740481C1C}">
                <a14:useLocalDpi xmlns:a14="http://schemas.microsoft.com/office/drawing/2010/main" val="0"/>
              </a:ext>
            </a:extLst>
          </a:blip>
          <a:srcRect l="35640"/>
          <a:stretch/>
        </p:blipFill>
        <p:spPr>
          <a:xfrm>
            <a:off x="0" y="2169261"/>
            <a:ext cx="1141809" cy="1774090"/>
          </a:xfrm>
          <a:prstGeom prst="rect">
            <a:avLst/>
          </a:prstGeom>
        </p:spPr>
      </p:pic>
      <p:sp>
        <p:nvSpPr>
          <p:cNvPr id="16" name="Oval 15"/>
          <p:cNvSpPr/>
          <p:nvPr/>
        </p:nvSpPr>
        <p:spPr>
          <a:xfrm>
            <a:off x="6456759" y="1257300"/>
            <a:ext cx="2114550" cy="211455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9" name="Picture 8"/>
          <p:cNvPicPr>
            <a:picLocks noChangeAspect="1"/>
          </p:cNvPicPr>
          <p:nvPr/>
        </p:nvPicPr>
        <p:blipFill rotWithShape="1">
          <a:blip r:embed="rId22">
            <a:extLst>
              <a:ext uri="{28A0092B-C50C-407E-A947-70E740481C1C}">
                <a14:useLocalDpi xmlns:a14="http://schemas.microsoft.com/office/drawing/2010/main" val="0"/>
              </a:ext>
            </a:extLst>
          </a:blip>
          <a:srcRect t="28813"/>
          <a:stretch/>
        </p:blipFill>
        <p:spPr>
          <a:xfrm>
            <a:off x="5999560" y="1"/>
            <a:ext cx="1202540" cy="856055"/>
          </a:xfrm>
          <a:prstGeom prst="rect">
            <a:avLst/>
          </a:prstGeom>
        </p:spPr>
      </p:pic>
      <p:pic>
        <p:nvPicPr>
          <p:cNvPr id="10" name="Picture 9"/>
          <p:cNvPicPr>
            <a:picLocks noChangeAspect="1"/>
          </p:cNvPicPr>
          <p:nvPr/>
        </p:nvPicPr>
        <p:blipFill rotWithShape="1">
          <a:blip r:embed="rId23">
            <a:extLst>
              <a:ext uri="{28A0092B-C50C-407E-A947-70E740481C1C}">
                <a14:useLocalDpi xmlns:a14="http://schemas.microsoft.com/office/drawing/2010/main" val="0"/>
              </a:ext>
            </a:extLst>
          </a:blip>
          <a:srcRect b="23320"/>
          <a:stretch/>
        </p:blipFill>
        <p:spPr>
          <a:xfrm>
            <a:off x="6456759" y="4572000"/>
            <a:ext cx="745301" cy="571500"/>
          </a:xfrm>
          <a:prstGeom prst="rect">
            <a:avLst/>
          </a:prstGeom>
        </p:spPr>
      </p:pic>
      <p:sp>
        <p:nvSpPr>
          <p:cNvPr id="14" name="Rectangle 13"/>
          <p:cNvSpPr/>
          <p:nvPr/>
        </p:nvSpPr>
        <p:spPr>
          <a:xfrm>
            <a:off x="7828359" y="0"/>
            <a:ext cx="514350" cy="85725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484584" y="339538"/>
            <a:ext cx="7053542" cy="1050398"/>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827484" y="1539689"/>
            <a:ext cx="6709906" cy="314661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7616730" y="1343026"/>
            <a:ext cx="742949" cy="228599"/>
          </a:xfrm>
          <a:prstGeom prst="rect">
            <a:avLst/>
          </a:prstGeom>
        </p:spPr>
        <p:txBody>
          <a:bodyPr vert="horz" lIns="91440" tIns="45720" rIns="91440" bIns="45720" rtlCol="0" anchor="t"/>
          <a:lstStyle>
            <a:lvl1pPr algn="l">
              <a:defRPr sz="825" b="0" i="0">
                <a:solidFill>
                  <a:schemeClr val="tx1">
                    <a:tint val="75000"/>
                    <a:alpha val="60000"/>
                  </a:schemeClr>
                </a:solidFill>
              </a:defRPr>
            </a:lvl1pPr>
          </a:lstStyle>
          <a:p>
            <a:fld id="{9322B248-7D5A-4B3B-815B-B3CD1201AE58}" type="datetimeFigureOut">
              <a:rPr lang="en-US" smtClean="0"/>
              <a:t>3/18/2026</a:t>
            </a:fld>
            <a:endParaRPr lang="en-US"/>
          </a:p>
        </p:txBody>
      </p:sp>
      <p:sp>
        <p:nvSpPr>
          <p:cNvPr id="5" name="Footer Placeholder 4"/>
          <p:cNvSpPr>
            <a:spLocks noGrp="1"/>
          </p:cNvSpPr>
          <p:nvPr>
            <p:ph type="ftr" sz="quarter" idx="3"/>
          </p:nvPr>
        </p:nvSpPr>
        <p:spPr>
          <a:xfrm rot="5400000">
            <a:off x="6713680" y="2418973"/>
            <a:ext cx="2894846" cy="228601"/>
          </a:xfrm>
          <a:prstGeom prst="rect">
            <a:avLst/>
          </a:prstGeom>
        </p:spPr>
        <p:txBody>
          <a:bodyPr vert="horz" lIns="91440" tIns="45720" rIns="91440" bIns="45720" rtlCol="0" anchor="b"/>
          <a:lstStyle>
            <a:lvl1pPr algn="l">
              <a:defRPr sz="825" b="0" i="0">
                <a:solidFill>
                  <a:schemeClr val="tx1">
                    <a:tint val="75000"/>
                    <a:alpha val="60000"/>
                  </a:schemeClr>
                </a:solidFill>
              </a:defRPr>
            </a:lvl1pPr>
          </a:lstStyle>
          <a:p>
            <a:endParaRPr lang="en-US"/>
          </a:p>
        </p:txBody>
      </p:sp>
      <p:sp>
        <p:nvSpPr>
          <p:cNvPr id="6" name="Slide Number Placeholder 5"/>
          <p:cNvSpPr>
            <a:spLocks noGrp="1"/>
          </p:cNvSpPr>
          <p:nvPr>
            <p:ph type="sldNum" sz="quarter" idx="4"/>
          </p:nvPr>
        </p:nvSpPr>
        <p:spPr bwMode="gray">
          <a:xfrm>
            <a:off x="7764406" y="221797"/>
            <a:ext cx="628649" cy="575765"/>
          </a:xfrm>
          <a:prstGeom prst="rect">
            <a:avLst/>
          </a:prstGeom>
        </p:spPr>
        <p:txBody>
          <a:bodyPr vert="horz" lIns="91440" tIns="45720" rIns="91440" bIns="45720" rtlCol="0" anchor="b"/>
          <a:lstStyle>
            <a:lvl1pPr algn="ctr">
              <a:defRPr sz="2100" b="0" i="0">
                <a:solidFill>
                  <a:schemeClr val="tx1">
                    <a:tint val="75000"/>
                  </a:schemeClr>
                </a:solidFill>
              </a:defRPr>
            </a:lvl1pPr>
          </a:lstStyle>
          <a:p>
            <a:fld id="{B6330EDA-6689-4D85-BE19-BCA96285C258}" type="slidenum">
              <a:rPr lang="en-US" smtClean="0"/>
              <a:t>‹#›</a:t>
            </a:fld>
            <a:endParaRPr lang="en-US"/>
          </a:p>
        </p:txBody>
      </p:sp>
    </p:spTree>
    <p:extLst>
      <p:ext uri="{BB962C8B-B14F-4D97-AF65-F5344CB8AC3E}">
        <p14:creationId xmlns:p14="http://schemas.microsoft.com/office/powerpoint/2010/main" val="1962134406"/>
      </p:ext>
    </p:extLst>
  </p:cSld>
  <p:clrMap bg1="dk1" tx1="lt1" bg2="dk2" tx2="lt2" accent1="accent1" accent2="accent2" accent3="accent3" accent4="accent4" accent5="accent5" accent6="accent6" hlink="hlink" folHlink="folHlink"/>
  <p:sldLayoutIdLst>
    <p:sldLayoutId id="2147483802" r:id="rId1"/>
    <p:sldLayoutId id="2147483803" r:id="rId2"/>
    <p:sldLayoutId id="2147483804" r:id="rId3"/>
    <p:sldLayoutId id="2147483805" r:id="rId4"/>
    <p:sldLayoutId id="2147483806" r:id="rId5"/>
    <p:sldLayoutId id="2147483807" r:id="rId6"/>
    <p:sldLayoutId id="2147483808" r:id="rId7"/>
    <p:sldLayoutId id="2147483809" r:id="rId8"/>
    <p:sldLayoutId id="2147483810" r:id="rId9"/>
    <p:sldLayoutId id="2147483811" r:id="rId10"/>
    <p:sldLayoutId id="2147483812" r:id="rId11"/>
    <p:sldLayoutId id="2147483813" r:id="rId12"/>
    <p:sldLayoutId id="2147483814" r:id="rId13"/>
    <p:sldLayoutId id="2147483815" r:id="rId14"/>
    <p:sldLayoutId id="2147483816" r:id="rId15"/>
    <p:sldLayoutId id="2147483817" r:id="rId16"/>
    <p:sldLayoutId id="2147483818" r:id="rId17"/>
    <p:sldLayoutId id="2147483819" r:id="rId18"/>
  </p:sldLayoutIdLst>
  <p:hf sldNum="0" hdr="0" ftr="0" dt="0"/>
  <p:txStyles>
    <p:titleStyle>
      <a:lvl1pPr algn="l" defTabSz="342900" rtl="0" eaLnBrk="1" latinLnBrk="0" hangingPunct="1">
        <a:spcBef>
          <a:spcPct val="0"/>
        </a:spcBef>
        <a:buNone/>
        <a:defRPr sz="315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57175" indent="-257175" algn="l" defTabSz="342900" rtl="0" eaLnBrk="1" latinLnBrk="0" hangingPunct="1">
        <a:spcBef>
          <a:spcPts val="750"/>
        </a:spcBef>
        <a:spcAft>
          <a:spcPts val="0"/>
        </a:spcAft>
        <a:buClr>
          <a:schemeClr val="accent1">
            <a:lumMod val="60000"/>
            <a:lumOff val="40000"/>
          </a:schemeClr>
        </a:buClr>
        <a:buSzPct val="80000"/>
        <a:buFont typeface="Wingdings 3" charset="2"/>
        <a:buChar char=""/>
        <a:defRPr sz="1500" b="0" i="0" kern="1200">
          <a:solidFill>
            <a:schemeClr val="tx1"/>
          </a:solidFill>
          <a:latin typeface="+mj-lt"/>
          <a:ea typeface="+mj-ea"/>
          <a:cs typeface="+mj-cs"/>
        </a:defRPr>
      </a:lvl1pPr>
      <a:lvl2pPr marL="557213" indent="-214313" algn="l" defTabSz="342900" rtl="0" eaLnBrk="1" latinLnBrk="0" hangingPunct="1">
        <a:spcBef>
          <a:spcPts val="750"/>
        </a:spcBef>
        <a:spcAft>
          <a:spcPts val="0"/>
        </a:spcAft>
        <a:buClr>
          <a:schemeClr val="accent1">
            <a:lumMod val="60000"/>
            <a:lumOff val="40000"/>
          </a:schemeClr>
        </a:buClr>
        <a:buSzPct val="80000"/>
        <a:buFont typeface="Wingdings 3" charset="2"/>
        <a:buChar char=""/>
        <a:defRPr sz="1350" b="0" i="0" kern="1200">
          <a:solidFill>
            <a:schemeClr val="tx1"/>
          </a:solidFill>
          <a:latin typeface="+mj-lt"/>
          <a:ea typeface="+mj-ea"/>
          <a:cs typeface="+mj-cs"/>
        </a:defRPr>
      </a:lvl2pPr>
      <a:lvl3pPr marL="857250" indent="-171450" algn="l" defTabSz="342900" rtl="0" eaLnBrk="1" latinLnBrk="0" hangingPunct="1">
        <a:spcBef>
          <a:spcPts val="750"/>
        </a:spcBef>
        <a:spcAft>
          <a:spcPts val="0"/>
        </a:spcAft>
        <a:buClr>
          <a:schemeClr val="accent1">
            <a:lumMod val="60000"/>
            <a:lumOff val="40000"/>
          </a:schemeClr>
        </a:buClr>
        <a:buSzPct val="80000"/>
        <a:buFont typeface="Wingdings 3" charset="2"/>
        <a:buChar char=""/>
        <a:defRPr sz="1200" b="0" i="0" kern="1200">
          <a:solidFill>
            <a:schemeClr val="tx1"/>
          </a:solidFill>
          <a:latin typeface="+mj-lt"/>
          <a:ea typeface="+mj-ea"/>
          <a:cs typeface="+mj-cs"/>
        </a:defRPr>
      </a:lvl3pPr>
      <a:lvl4pPr marL="1200150" indent="-171450" algn="l" defTabSz="342900" rtl="0" eaLnBrk="1" latinLnBrk="0" hangingPunct="1">
        <a:spcBef>
          <a:spcPts val="750"/>
        </a:spcBef>
        <a:spcAft>
          <a:spcPts val="0"/>
        </a:spcAft>
        <a:buClr>
          <a:schemeClr val="accent1">
            <a:lumMod val="60000"/>
            <a:lumOff val="40000"/>
          </a:schemeClr>
        </a:buClr>
        <a:buSzPct val="80000"/>
        <a:buFont typeface="Wingdings 3" charset="2"/>
        <a:buChar char=""/>
        <a:defRPr sz="1050" b="0" i="0" kern="1200">
          <a:solidFill>
            <a:schemeClr val="tx1"/>
          </a:solidFill>
          <a:latin typeface="+mj-lt"/>
          <a:ea typeface="+mj-ea"/>
          <a:cs typeface="+mj-cs"/>
        </a:defRPr>
      </a:lvl4pPr>
      <a:lvl5pPr marL="1543050" indent="-171450" algn="l" defTabSz="342900" rtl="0" eaLnBrk="1" latinLnBrk="0" hangingPunct="1">
        <a:spcBef>
          <a:spcPts val="750"/>
        </a:spcBef>
        <a:spcAft>
          <a:spcPts val="0"/>
        </a:spcAft>
        <a:buClr>
          <a:schemeClr val="accent1">
            <a:lumMod val="60000"/>
            <a:lumOff val="40000"/>
          </a:schemeClr>
        </a:buClr>
        <a:buSzPct val="80000"/>
        <a:buFont typeface="Wingdings 3" charset="2"/>
        <a:buChar char=""/>
        <a:defRPr sz="1050" b="0" i="0" kern="1200">
          <a:solidFill>
            <a:schemeClr val="tx1"/>
          </a:solidFill>
          <a:latin typeface="+mj-lt"/>
          <a:ea typeface="+mj-ea"/>
          <a:cs typeface="+mj-cs"/>
        </a:defRPr>
      </a:lvl5pPr>
      <a:lvl6pPr marL="1885950" indent="-171450" algn="l" defTabSz="342900" rtl="0" eaLnBrk="1" latinLnBrk="0" hangingPunct="1">
        <a:spcBef>
          <a:spcPts val="750"/>
        </a:spcBef>
        <a:spcAft>
          <a:spcPts val="0"/>
        </a:spcAft>
        <a:buClr>
          <a:schemeClr val="accent1">
            <a:lumMod val="60000"/>
            <a:lumOff val="40000"/>
          </a:schemeClr>
        </a:buClr>
        <a:buSzPct val="80000"/>
        <a:buFont typeface="Wingdings 3" charset="2"/>
        <a:buChar char=""/>
        <a:defRPr sz="1050" b="0" i="0" kern="1200">
          <a:solidFill>
            <a:schemeClr val="tx1"/>
          </a:solidFill>
          <a:latin typeface="+mj-lt"/>
          <a:ea typeface="+mj-ea"/>
          <a:cs typeface="+mj-cs"/>
        </a:defRPr>
      </a:lvl6pPr>
      <a:lvl7pPr marL="2228850" indent="-171450" algn="l" defTabSz="342900" rtl="0" eaLnBrk="1" latinLnBrk="0" hangingPunct="1">
        <a:spcBef>
          <a:spcPts val="750"/>
        </a:spcBef>
        <a:spcAft>
          <a:spcPts val="0"/>
        </a:spcAft>
        <a:buClr>
          <a:schemeClr val="accent1">
            <a:lumMod val="60000"/>
            <a:lumOff val="40000"/>
          </a:schemeClr>
        </a:buClr>
        <a:buSzPct val="80000"/>
        <a:buFont typeface="Wingdings 3" charset="2"/>
        <a:buChar char=""/>
        <a:defRPr sz="1050" b="0" i="0" kern="1200">
          <a:solidFill>
            <a:schemeClr val="tx1"/>
          </a:solidFill>
          <a:latin typeface="+mj-lt"/>
          <a:ea typeface="+mj-ea"/>
          <a:cs typeface="+mj-cs"/>
        </a:defRPr>
      </a:lvl7pPr>
      <a:lvl8pPr marL="2571750" indent="-171450" algn="l" defTabSz="342900" rtl="0" eaLnBrk="1" latinLnBrk="0" hangingPunct="1">
        <a:spcBef>
          <a:spcPts val="750"/>
        </a:spcBef>
        <a:spcAft>
          <a:spcPts val="0"/>
        </a:spcAft>
        <a:buClr>
          <a:schemeClr val="accent1">
            <a:lumMod val="60000"/>
            <a:lumOff val="40000"/>
          </a:schemeClr>
        </a:buClr>
        <a:buSzPct val="80000"/>
        <a:buFont typeface="Wingdings 3" charset="2"/>
        <a:buChar char=""/>
        <a:defRPr sz="1050" b="0" i="0" kern="1200">
          <a:solidFill>
            <a:schemeClr val="tx1"/>
          </a:solidFill>
          <a:latin typeface="+mj-lt"/>
          <a:ea typeface="+mj-ea"/>
          <a:cs typeface="+mj-cs"/>
        </a:defRPr>
      </a:lvl8pPr>
      <a:lvl9pPr marL="2914650" indent="-171450" algn="l" defTabSz="342900" rtl="0" eaLnBrk="1" latinLnBrk="0" hangingPunct="1">
        <a:spcBef>
          <a:spcPts val="750"/>
        </a:spcBef>
        <a:spcAft>
          <a:spcPts val="0"/>
        </a:spcAft>
        <a:buClr>
          <a:schemeClr val="accent1">
            <a:lumMod val="60000"/>
            <a:lumOff val="40000"/>
          </a:schemeClr>
        </a:buClr>
        <a:buSzPct val="80000"/>
        <a:buFont typeface="Wingdings 3" charset="2"/>
        <a:buChar char=""/>
        <a:defRPr sz="1050" b="0" i="0" kern="1200">
          <a:solidFill>
            <a:schemeClr val="tx1"/>
          </a:solidFill>
          <a:latin typeface="+mj-lt"/>
          <a:ea typeface="+mj-ea"/>
          <a:cs typeface="+mj-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peg"/><Relationship Id="rId1" Type="http://schemas.openxmlformats.org/officeDocument/2006/relationships/slideLayout" Target="../slideLayouts/slideLayout18.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8.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8.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p:nvPr/>
        </p:nvSpPr>
        <p:spPr>
          <a:xfrm>
            <a:off x="381000" y="504428"/>
            <a:ext cx="8382000" cy="783645"/>
          </a:xfrm>
          <a:prstGeom prst="rect">
            <a:avLst/>
          </a:prstGeom>
          <a:ln/>
        </p:spPr>
        <p:style>
          <a:lnRef idx="2">
            <a:schemeClr val="dk1"/>
          </a:lnRef>
          <a:fillRef idx="1">
            <a:schemeClr val="lt1"/>
          </a:fillRef>
          <a:effectRef idx="0">
            <a:schemeClr val="dk1"/>
          </a:effectRef>
          <a:fontRef idx="minor">
            <a:schemeClr val="dk1"/>
          </a:fontRef>
        </p:style>
        <p:txBody>
          <a:bodyPr wrap="square" lIns="0" tIns="0" rIns="0" bIns="0" rtlCol="0" anchor="t"/>
          <a:lstStyle/>
          <a:p>
            <a:pPr marL="0" indent="0" algn="ctr">
              <a:lnSpc>
                <a:spcPts val="5760"/>
              </a:lnSpc>
              <a:buNone/>
            </a:pPr>
            <a:r>
              <a:rPr lang="en-US" sz="3600" b="1" dirty="0">
                <a:solidFill>
                  <a:srgbClr val="64B5F6"/>
                </a:solidFill>
                <a:latin typeface="Segoe UI" pitchFamily="34" charset="0"/>
                <a:ea typeface="Segoe UI" pitchFamily="34" charset="-122"/>
                <a:cs typeface="Segoe UI" pitchFamily="34" charset="-120"/>
              </a:rPr>
              <a:t> Parkinson’s Telemonitoring</a:t>
            </a:r>
            <a:endParaRPr lang="en-US" sz="3600" dirty="0"/>
          </a:p>
        </p:txBody>
      </p:sp>
      <p:sp>
        <p:nvSpPr>
          <p:cNvPr id="4" name="Text 1"/>
          <p:cNvSpPr/>
          <p:nvPr/>
        </p:nvSpPr>
        <p:spPr>
          <a:xfrm>
            <a:off x="297180" y="1358413"/>
            <a:ext cx="8549640" cy="729760"/>
          </a:xfrm>
          <a:prstGeom prst="rect">
            <a:avLst/>
          </a:prstGeom>
          <a:noFill/>
          <a:ln/>
        </p:spPr>
        <p:txBody>
          <a:bodyPr wrap="square" lIns="0" tIns="0" rIns="0" bIns="0" rtlCol="0" anchor="t"/>
          <a:lstStyle/>
          <a:p>
            <a:pPr marL="0" indent="0" algn="ctr">
              <a:lnSpc>
                <a:spcPts val="3060"/>
              </a:lnSpc>
              <a:buNone/>
            </a:pPr>
            <a:r>
              <a:rPr lang="en-US" sz="2000" b="1" dirty="0">
                <a:solidFill>
                  <a:srgbClr val="00B050"/>
                </a:solidFill>
                <a:latin typeface="Times New Roman" panose="02020603050405020304" pitchFamily="18" charset="0"/>
                <a:ea typeface="Segoe UI" pitchFamily="34" charset="-122"/>
                <a:cs typeface="Times New Roman" panose="02020603050405020304" pitchFamily="18" charset="0"/>
              </a:rPr>
              <a:t>Exploratory Data Analysis &amp; Preliminary Findings</a:t>
            </a:r>
            <a:endParaRPr lang="en-US" sz="2000" b="1" dirty="0">
              <a:solidFill>
                <a:srgbClr val="00B050"/>
              </a:solidFill>
              <a:latin typeface="Times New Roman" panose="02020603050405020304" pitchFamily="18" charset="0"/>
              <a:cs typeface="Times New Roman" panose="02020603050405020304" pitchFamily="18" charset="0"/>
            </a:endParaRPr>
          </a:p>
        </p:txBody>
      </p:sp>
      <p:sp>
        <p:nvSpPr>
          <p:cNvPr id="5" name="Text 2"/>
          <p:cNvSpPr/>
          <p:nvPr/>
        </p:nvSpPr>
        <p:spPr>
          <a:xfrm>
            <a:off x="297180" y="2927350"/>
            <a:ext cx="8549640" cy="285055"/>
          </a:xfrm>
          <a:prstGeom prst="rect">
            <a:avLst/>
          </a:prstGeom>
          <a:noFill/>
          <a:ln/>
        </p:spPr>
        <p:txBody>
          <a:bodyPr wrap="square" lIns="0" tIns="0" rIns="0" bIns="0" rtlCol="0" anchor="t"/>
          <a:lstStyle/>
          <a:p>
            <a:pPr marL="0" indent="0">
              <a:lnSpc>
                <a:spcPts val="2244"/>
              </a:lnSpc>
              <a:buNone/>
            </a:pPr>
            <a:r>
              <a:rPr lang="en-US" sz="1320" b="1" dirty="0">
                <a:solidFill>
                  <a:srgbClr val="FFB74D"/>
                </a:solidFill>
                <a:latin typeface="Segoe UI" pitchFamily="34" charset="0"/>
                <a:ea typeface="Segoe UI" pitchFamily="34" charset="-122"/>
                <a:cs typeface="Segoe UI" pitchFamily="34" charset="-120"/>
              </a:rPr>
              <a:t>Name:</a:t>
            </a:r>
            <a:r>
              <a:rPr lang="en-US" sz="1320" dirty="0">
                <a:solidFill>
                  <a:srgbClr val="B0BEC5"/>
                </a:solidFill>
                <a:latin typeface="Segoe UI" pitchFamily="34" charset="0"/>
                <a:ea typeface="Segoe UI" pitchFamily="34" charset="-122"/>
                <a:cs typeface="Segoe UI" pitchFamily="34" charset="-120"/>
              </a:rPr>
              <a:t> Suleman Mohammad</a:t>
            </a:r>
            <a:endParaRPr lang="en-US" sz="1320" dirty="0"/>
          </a:p>
        </p:txBody>
      </p:sp>
      <p:sp>
        <p:nvSpPr>
          <p:cNvPr id="6" name="Text 3"/>
          <p:cNvSpPr/>
          <p:nvPr/>
        </p:nvSpPr>
        <p:spPr>
          <a:xfrm>
            <a:off x="297180" y="3355281"/>
            <a:ext cx="8549640" cy="285055"/>
          </a:xfrm>
          <a:prstGeom prst="rect">
            <a:avLst/>
          </a:prstGeom>
          <a:noFill/>
          <a:ln/>
        </p:spPr>
        <p:txBody>
          <a:bodyPr wrap="square" lIns="0" tIns="0" rIns="0" bIns="0" rtlCol="0" anchor="t"/>
          <a:lstStyle/>
          <a:p>
            <a:pPr marL="0" indent="0">
              <a:lnSpc>
                <a:spcPts val="2244"/>
              </a:lnSpc>
              <a:buNone/>
            </a:pPr>
            <a:r>
              <a:rPr lang="en-US" sz="1320" b="1" dirty="0">
                <a:solidFill>
                  <a:srgbClr val="FFB74D"/>
                </a:solidFill>
                <a:latin typeface="Segoe UI" pitchFamily="34" charset="0"/>
                <a:ea typeface="Segoe UI" pitchFamily="34" charset="-122"/>
                <a:cs typeface="Segoe UI" pitchFamily="34" charset="-120"/>
              </a:rPr>
              <a:t>Course:</a:t>
            </a:r>
            <a:r>
              <a:rPr lang="en-US" sz="1320" dirty="0">
                <a:solidFill>
                  <a:srgbClr val="B0BEC5"/>
                </a:solidFill>
                <a:latin typeface="Segoe UI" pitchFamily="34" charset="0"/>
                <a:ea typeface="Segoe UI" pitchFamily="34" charset="-122"/>
                <a:cs typeface="Segoe UI" pitchFamily="34" charset="-120"/>
              </a:rPr>
              <a:t> BIFX 546 — Machine Learning for Bioinformatics</a:t>
            </a:r>
            <a:endParaRPr lang="en-US" sz="1320" dirty="0"/>
          </a:p>
        </p:txBody>
      </p:sp>
      <p:sp>
        <p:nvSpPr>
          <p:cNvPr id="7" name="Text 4"/>
          <p:cNvSpPr/>
          <p:nvPr/>
        </p:nvSpPr>
        <p:spPr>
          <a:xfrm>
            <a:off x="297180" y="3783211"/>
            <a:ext cx="8549640" cy="285055"/>
          </a:xfrm>
          <a:prstGeom prst="rect">
            <a:avLst/>
          </a:prstGeom>
          <a:noFill/>
          <a:ln/>
        </p:spPr>
        <p:txBody>
          <a:bodyPr wrap="square" lIns="0" tIns="0" rIns="0" bIns="0" rtlCol="0" anchor="t"/>
          <a:lstStyle/>
          <a:p>
            <a:pPr marL="0" indent="0">
              <a:lnSpc>
                <a:spcPts val="2244"/>
              </a:lnSpc>
              <a:buNone/>
            </a:pPr>
            <a:r>
              <a:rPr lang="en-US" sz="1320" b="1" dirty="0">
                <a:solidFill>
                  <a:srgbClr val="FFB74D"/>
                </a:solidFill>
                <a:latin typeface="Segoe UI" pitchFamily="34" charset="0"/>
                <a:ea typeface="Segoe UI" pitchFamily="34" charset="-122"/>
                <a:cs typeface="Segoe UI" pitchFamily="34" charset="-120"/>
              </a:rPr>
              <a:t>Instructor:</a:t>
            </a:r>
            <a:r>
              <a:rPr lang="en-US" sz="1320" dirty="0">
                <a:solidFill>
                  <a:srgbClr val="B0BEC5"/>
                </a:solidFill>
                <a:latin typeface="Segoe UI" pitchFamily="34" charset="0"/>
                <a:ea typeface="Segoe UI" pitchFamily="34" charset="-122"/>
                <a:cs typeface="Segoe UI" pitchFamily="34" charset="-120"/>
              </a:rPr>
              <a:t> Dr. Sarangan (Ravi) Ravichandran, Ph.D.</a:t>
            </a:r>
            <a:endParaRPr lang="en-US" sz="1320" dirty="0"/>
          </a:p>
        </p:txBody>
      </p:sp>
      <p:sp>
        <p:nvSpPr>
          <p:cNvPr id="8" name="Text 5"/>
          <p:cNvSpPr/>
          <p:nvPr/>
        </p:nvSpPr>
        <p:spPr>
          <a:xfrm>
            <a:off x="297180" y="4211142"/>
            <a:ext cx="8549640" cy="285055"/>
          </a:xfrm>
          <a:prstGeom prst="rect">
            <a:avLst/>
          </a:prstGeom>
          <a:noFill/>
          <a:ln/>
        </p:spPr>
        <p:txBody>
          <a:bodyPr wrap="square" lIns="0" tIns="0" rIns="0" bIns="0" rtlCol="0" anchor="t"/>
          <a:lstStyle/>
          <a:p>
            <a:pPr>
              <a:lnSpc>
                <a:spcPts val="2244"/>
              </a:lnSpc>
            </a:pPr>
            <a:r>
              <a:rPr lang="en-US" sz="1320" b="1" dirty="0">
                <a:solidFill>
                  <a:srgbClr val="FFB74D"/>
                </a:solidFill>
                <a:latin typeface="Segoe UI" pitchFamily="34" charset="0"/>
                <a:ea typeface="Segoe UI" pitchFamily="34" charset="-122"/>
                <a:cs typeface="Segoe UI" pitchFamily="34" charset="-120"/>
              </a:rPr>
              <a:t>Date:</a:t>
            </a:r>
            <a:r>
              <a:rPr lang="en-US" sz="1320" dirty="0">
                <a:solidFill>
                  <a:srgbClr val="B0BEC5"/>
                </a:solidFill>
                <a:latin typeface="Segoe UI" pitchFamily="34" charset="0"/>
                <a:ea typeface="Segoe UI" pitchFamily="34" charset="-122"/>
                <a:cs typeface="Segoe UI" pitchFamily="34" charset="-120"/>
              </a:rPr>
              <a:t> March 18, 2026</a:t>
            </a:r>
            <a:endParaRPr lang="en-US" sz="132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4" name="Text 1"/>
          <p:cNvSpPr/>
          <p:nvPr/>
        </p:nvSpPr>
        <p:spPr>
          <a:xfrm>
            <a:off x="381000" y="381000"/>
            <a:ext cx="8549640" cy="487660"/>
          </a:xfrm>
          <a:prstGeom prst="rect">
            <a:avLst/>
          </a:prstGeom>
          <a:ln/>
        </p:spPr>
        <p:style>
          <a:lnRef idx="2">
            <a:schemeClr val="dk1"/>
          </a:lnRef>
          <a:fillRef idx="1">
            <a:schemeClr val="lt1"/>
          </a:fillRef>
          <a:effectRef idx="0">
            <a:schemeClr val="dk1"/>
          </a:effectRef>
          <a:fontRef idx="minor">
            <a:schemeClr val="dk1"/>
          </a:fontRef>
        </p:style>
        <p:txBody>
          <a:bodyPr wrap="square" lIns="0" tIns="0" rIns="0" bIns="0" rtlCol="0" anchor="t"/>
          <a:lstStyle/>
          <a:p>
            <a:pPr marL="0" indent="0" algn="ctr">
              <a:lnSpc>
                <a:spcPts val="3840"/>
              </a:lnSpc>
              <a:buNone/>
            </a:pPr>
            <a:r>
              <a:rPr lang="en-US" sz="2400" b="1" dirty="0">
                <a:solidFill>
                  <a:srgbClr val="81C784"/>
                </a:solidFill>
                <a:latin typeface="Segoe UI" pitchFamily="34" charset="0"/>
                <a:ea typeface="Segoe UI" pitchFamily="34" charset="-122"/>
                <a:cs typeface="Segoe UI" pitchFamily="34" charset="-120"/>
              </a:rPr>
              <a:t>Research Question &amp; Motivation</a:t>
            </a:r>
            <a:endParaRPr lang="en-US" sz="2400" dirty="0"/>
          </a:p>
        </p:txBody>
      </p:sp>
      <p:sp>
        <p:nvSpPr>
          <p:cNvPr id="5" name="Text 2"/>
          <p:cNvSpPr/>
          <p:nvPr/>
        </p:nvSpPr>
        <p:spPr>
          <a:xfrm>
            <a:off x="609600" y="1297285"/>
            <a:ext cx="8122158" cy="317004"/>
          </a:xfrm>
          <a:prstGeom prst="rect">
            <a:avLst/>
          </a:prstGeom>
          <a:noFill/>
          <a:ln/>
        </p:spPr>
        <p:txBody>
          <a:bodyPr wrap="square" lIns="0" tIns="0" rIns="0" bIns="0" rtlCol="0" anchor="t"/>
          <a:lstStyle/>
          <a:p>
            <a:pPr marL="0" indent="0">
              <a:lnSpc>
                <a:spcPts val="2496"/>
              </a:lnSpc>
              <a:buNone/>
            </a:pPr>
            <a:r>
              <a:rPr lang="en-US" sz="2800" b="1" dirty="0">
                <a:solidFill>
                  <a:srgbClr val="FFB74D"/>
                </a:solidFill>
                <a:latin typeface="Times New Roman" panose="02020603050405020304" pitchFamily="18" charset="0"/>
                <a:ea typeface="Segoe UI" pitchFamily="34" charset="-122"/>
                <a:cs typeface="Times New Roman" panose="02020603050405020304" pitchFamily="18" charset="0"/>
              </a:rPr>
              <a:t>Central Question:</a:t>
            </a:r>
            <a:endParaRPr lang="en-US" sz="2800" dirty="0">
              <a:latin typeface="Times New Roman" panose="02020603050405020304" pitchFamily="18" charset="0"/>
              <a:cs typeface="Times New Roman" panose="02020603050405020304" pitchFamily="18" charset="0"/>
            </a:endParaRPr>
          </a:p>
        </p:txBody>
      </p:sp>
      <p:sp>
        <p:nvSpPr>
          <p:cNvPr id="6" name="Text 3"/>
          <p:cNvSpPr/>
          <p:nvPr/>
        </p:nvSpPr>
        <p:spPr>
          <a:xfrm>
            <a:off x="609600" y="1728589"/>
            <a:ext cx="7962900" cy="570111"/>
          </a:xfrm>
          <a:prstGeom prst="rect">
            <a:avLst/>
          </a:prstGeom>
          <a:noFill/>
          <a:ln/>
        </p:spPr>
        <p:txBody>
          <a:bodyPr wrap="square" lIns="0" tIns="0" rIns="0" bIns="0" rtlCol="0" anchor="t"/>
          <a:lstStyle/>
          <a:p>
            <a:pPr marL="0" indent="0">
              <a:lnSpc>
                <a:spcPts val="2244"/>
              </a:lnSpc>
              <a:buNone/>
            </a:pPr>
            <a:r>
              <a:rPr lang="en-US" sz="1320" dirty="0">
                <a:solidFill>
                  <a:srgbClr val="F5F5F5"/>
                </a:solidFill>
                <a:latin typeface="Segoe UI" pitchFamily="34" charset="0"/>
                <a:ea typeface="Segoe UI" pitchFamily="34" charset="-122"/>
                <a:cs typeface="Segoe UI" pitchFamily="34" charset="-120"/>
              </a:rPr>
              <a:t>Can we predict Parkinson's disease severity (UPDRS scores) from home-recorded voice measurements?</a:t>
            </a:r>
            <a:endParaRPr lang="en-US" sz="1320" dirty="0"/>
          </a:p>
        </p:txBody>
      </p:sp>
      <p:sp>
        <p:nvSpPr>
          <p:cNvPr id="7" name="Text 4"/>
          <p:cNvSpPr/>
          <p:nvPr/>
        </p:nvSpPr>
        <p:spPr>
          <a:xfrm>
            <a:off x="500062" y="2145938"/>
            <a:ext cx="8143875" cy="1110853"/>
          </a:xfrm>
          <a:prstGeom prst="rect">
            <a:avLst/>
          </a:prstGeom>
          <a:noFill/>
          <a:ln/>
        </p:spPr>
        <p:txBody>
          <a:bodyPr wrap="square" lIns="0" tIns="0" rIns="0" bIns="0" rtlCol="0" anchor="t"/>
          <a:lstStyle/>
          <a:p>
            <a:pPr marL="342900" indent="-342900">
              <a:lnSpc>
                <a:spcPts val="1920"/>
              </a:lnSpc>
              <a:buSzPct val="100000"/>
              <a:buChar char="•"/>
            </a:pPr>
            <a:r>
              <a:rPr lang="en-US" sz="1260" b="1" dirty="0">
                <a:solidFill>
                  <a:srgbClr val="FFB74D"/>
                </a:solidFill>
                <a:latin typeface="Segoe UI" pitchFamily="34" charset="0"/>
                <a:ea typeface="Segoe UI" pitchFamily="34" charset="-122"/>
                <a:cs typeface="Segoe UI" pitchFamily="34" charset="-120"/>
              </a:rPr>
              <a:t>Why it matters:</a:t>
            </a:r>
            <a:r>
              <a:rPr lang="en-US" sz="1200" dirty="0">
                <a:solidFill>
                  <a:srgbClr val="F5F5F5"/>
                </a:solidFill>
                <a:latin typeface="Segoe UI" pitchFamily="34" charset="0"/>
                <a:ea typeface="Segoe UI" pitchFamily="34" charset="-122"/>
                <a:cs typeface="Segoe UI" pitchFamily="34" charset="-120"/>
              </a:rPr>
              <a:t> Early detection leads to better intervention strategies and improved patient outcomes</a:t>
            </a:r>
            <a:endParaRPr lang="en-US" sz="1200" dirty="0"/>
          </a:p>
          <a:p>
            <a:pPr marL="342900" indent="-342900">
              <a:lnSpc>
                <a:spcPts val="1920"/>
              </a:lnSpc>
              <a:buSzPct val="100000"/>
              <a:buChar char="•"/>
            </a:pPr>
            <a:r>
              <a:rPr lang="en-US" sz="1260" b="1" dirty="0">
                <a:solidFill>
                  <a:srgbClr val="FFB74D"/>
                </a:solidFill>
                <a:latin typeface="Segoe UI" pitchFamily="34" charset="0"/>
                <a:ea typeface="Segoe UI" pitchFamily="34" charset="-122"/>
                <a:cs typeface="Segoe UI" pitchFamily="34" charset="-120"/>
              </a:rPr>
              <a:t>Practical benefit:</a:t>
            </a:r>
            <a:r>
              <a:rPr lang="en-US" sz="1200" dirty="0">
                <a:solidFill>
                  <a:srgbClr val="F5F5F5"/>
                </a:solidFill>
                <a:latin typeface="Segoe UI" pitchFamily="34" charset="0"/>
                <a:ea typeface="Segoe UI" pitchFamily="34" charset="-122"/>
                <a:cs typeface="Segoe UI" pitchFamily="34" charset="-120"/>
              </a:rPr>
              <a:t> Remote telemonitoring enables easier access to care for patient populations</a:t>
            </a:r>
            <a:endParaRPr lang="en-US" sz="1200" dirty="0"/>
          </a:p>
          <a:p>
            <a:pPr marL="342900" indent="-342900">
              <a:lnSpc>
                <a:spcPts val="1920"/>
              </a:lnSpc>
              <a:buSzPct val="100000"/>
              <a:buChar char="•"/>
            </a:pPr>
            <a:r>
              <a:rPr lang="en-US" sz="1260" b="1" dirty="0">
                <a:solidFill>
                  <a:srgbClr val="FFB74D"/>
                </a:solidFill>
                <a:latin typeface="Segoe UI" pitchFamily="34" charset="0"/>
                <a:ea typeface="Segoe UI" pitchFamily="34" charset="-122"/>
                <a:cs typeface="Segoe UI" pitchFamily="34" charset="-120"/>
              </a:rPr>
              <a:t>Background:</a:t>
            </a:r>
            <a:r>
              <a:rPr lang="en-US" sz="1200" dirty="0">
                <a:solidFill>
                  <a:srgbClr val="F5F5F5"/>
                </a:solidFill>
                <a:latin typeface="Segoe UI" pitchFamily="34" charset="0"/>
                <a:ea typeface="Segoe UI" pitchFamily="34" charset="-122"/>
                <a:cs typeface="Segoe UI" pitchFamily="34" charset="-120"/>
              </a:rPr>
              <a:t> Parkinson's disease affects speech motor control; voice features may reflect disease progression</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5F93A7E-FEE0-38FE-0961-88392DC7DB40}"/>
              </a:ext>
            </a:extLst>
          </p:cNvPr>
          <p:cNvSpPr txBox="1"/>
          <p:nvPr/>
        </p:nvSpPr>
        <p:spPr>
          <a:xfrm>
            <a:off x="484094" y="490298"/>
            <a:ext cx="7593106" cy="2789225"/>
          </a:xfrm>
          <a:prstGeom prst="rect">
            <a:avLst/>
          </a:prstGeom>
          <a:noFill/>
        </p:spPr>
        <p:txBody>
          <a:bodyPr wrap="square">
            <a:spAutoFit/>
          </a:bodyPr>
          <a:lstStyle/>
          <a:p>
            <a:pPr marL="0" marR="0">
              <a:lnSpc>
                <a:spcPct val="115000"/>
              </a:lnSpc>
              <a:spcAft>
                <a:spcPts val="800"/>
              </a:spcAft>
              <a:buNone/>
            </a:pPr>
            <a:r>
              <a:rPr lang="en-US" sz="2800" b="1" kern="100" dirty="0">
                <a:solidFill>
                  <a:srgbClr val="FFC000"/>
                </a:solidFill>
                <a:effectLst/>
                <a:latin typeface="Times New Roman" panose="02020603050405020304" pitchFamily="18" charset="0"/>
                <a:ea typeface="Aptos" panose="020B0004020202020204" pitchFamily="34" charset="0"/>
                <a:cs typeface="Times New Roman" panose="02020603050405020304" pitchFamily="18" charset="0"/>
              </a:rPr>
              <a:t>Background Context:</a:t>
            </a:r>
          </a:p>
          <a:p>
            <a:pPr marL="0" marR="0">
              <a:lnSpc>
                <a:spcPct val="115000"/>
              </a:lnSpc>
              <a:spcAft>
                <a:spcPts val="800"/>
              </a:spcAft>
              <a:buNone/>
            </a:pPr>
            <a:r>
              <a:rPr lang="en-US" sz="1200" kern="100" dirty="0">
                <a:effectLst/>
                <a:latin typeface="Aptos" panose="020B0004020202020204" pitchFamily="34" charset="0"/>
                <a:ea typeface="Aptos" panose="020B0004020202020204" pitchFamily="34" charset="0"/>
                <a:cs typeface="Times New Roman" panose="02020603050405020304" pitchFamily="18" charset="0"/>
              </a:rPr>
              <a:t>Parkinson's disease is a progressive neurological disorder characterized by motor symptoms (tremor, rigidity, bradykinesia) and non-motor features. Speech impairments (dysarthria) are common and affect approximately 75% of patients. Voice analysis offers:</a:t>
            </a:r>
          </a:p>
          <a:p>
            <a:pPr marL="342900" marR="0" lvl="0" indent="-342900">
              <a:lnSpc>
                <a:spcPct val="115000"/>
              </a:lnSpc>
              <a:spcAft>
                <a:spcPts val="800"/>
              </a:spcAft>
              <a:buSzPts val="1000"/>
              <a:buFont typeface="Symbol" panose="05050102010706020507" pitchFamily="18" charset="2"/>
              <a:buChar char=""/>
              <a:tabLst>
                <a:tab pos="457200" algn="l"/>
              </a:tabLst>
            </a:pPr>
            <a:r>
              <a:rPr lang="en-US" sz="1200" kern="100" dirty="0">
                <a:effectLst/>
                <a:latin typeface="Aptos" panose="020B0004020202020204" pitchFamily="34" charset="0"/>
                <a:ea typeface="Aptos" panose="020B0004020202020204" pitchFamily="34" charset="0"/>
                <a:cs typeface="Times New Roman" panose="02020603050405020304" pitchFamily="18" charset="0"/>
              </a:rPr>
              <a:t>Non-invasive, scalable assessment modality</a:t>
            </a:r>
          </a:p>
          <a:p>
            <a:pPr marL="342900" marR="0" lvl="0" indent="-342900">
              <a:lnSpc>
                <a:spcPct val="115000"/>
              </a:lnSpc>
              <a:spcAft>
                <a:spcPts val="800"/>
              </a:spcAft>
              <a:buSzPts val="1000"/>
              <a:buFont typeface="Symbol" panose="05050102010706020507" pitchFamily="18" charset="2"/>
              <a:buChar char=""/>
              <a:tabLst>
                <a:tab pos="457200" algn="l"/>
              </a:tabLst>
            </a:pPr>
            <a:r>
              <a:rPr lang="en-US" sz="1200" kern="100" dirty="0">
                <a:effectLst/>
                <a:latin typeface="Aptos" panose="020B0004020202020204" pitchFamily="34" charset="0"/>
                <a:ea typeface="Aptos" panose="020B0004020202020204" pitchFamily="34" charset="0"/>
                <a:cs typeface="Times New Roman" panose="02020603050405020304" pitchFamily="18" charset="0"/>
              </a:rPr>
              <a:t>Quantitative, objective measurements (vs. clinical rating scales)</a:t>
            </a:r>
          </a:p>
          <a:p>
            <a:pPr marL="342900" marR="0" lvl="0" indent="-342900">
              <a:lnSpc>
                <a:spcPct val="115000"/>
              </a:lnSpc>
              <a:spcAft>
                <a:spcPts val="800"/>
              </a:spcAft>
              <a:buSzPts val="1000"/>
              <a:buFont typeface="Symbol" panose="05050102010706020507" pitchFamily="18" charset="2"/>
              <a:buChar char=""/>
              <a:tabLst>
                <a:tab pos="457200" algn="l"/>
              </a:tabLst>
            </a:pPr>
            <a:r>
              <a:rPr lang="en-US" sz="1200" kern="100" dirty="0">
                <a:effectLst/>
                <a:latin typeface="Aptos" panose="020B0004020202020204" pitchFamily="34" charset="0"/>
                <a:ea typeface="Aptos" panose="020B0004020202020204" pitchFamily="34" charset="0"/>
                <a:cs typeface="Times New Roman" panose="02020603050405020304" pitchFamily="18" charset="0"/>
              </a:rPr>
              <a:t>Potential for continuous home monitoring</a:t>
            </a:r>
          </a:p>
          <a:p>
            <a:pPr marL="0" marR="0" algn="ctr">
              <a:lnSpc>
                <a:spcPct val="115000"/>
              </a:lnSpc>
              <a:spcAft>
                <a:spcPts val="800"/>
              </a:spcAft>
              <a:buNone/>
            </a:pPr>
            <a:br>
              <a:rPr lang="en-US" sz="1200" kern="100" dirty="0">
                <a:effectLst/>
                <a:latin typeface="Aptos" panose="020B0004020202020204" pitchFamily="34" charset="0"/>
                <a:ea typeface="Aptos" panose="020B0004020202020204" pitchFamily="34" charset="0"/>
                <a:cs typeface="Times New Roman" panose="02020603050405020304" pitchFamily="18" charset="0"/>
              </a:rPr>
            </a:br>
            <a:endParaRPr lang="en-US" sz="1200"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33373568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4" name="Text 1"/>
          <p:cNvSpPr/>
          <p:nvPr/>
        </p:nvSpPr>
        <p:spPr>
          <a:xfrm>
            <a:off x="381000" y="381000"/>
            <a:ext cx="8549640" cy="487660"/>
          </a:xfrm>
          <a:prstGeom prst="rect">
            <a:avLst/>
          </a:prstGeom>
          <a:ln/>
        </p:spPr>
        <p:style>
          <a:lnRef idx="2">
            <a:schemeClr val="dk1"/>
          </a:lnRef>
          <a:fillRef idx="1">
            <a:schemeClr val="lt1"/>
          </a:fillRef>
          <a:effectRef idx="0">
            <a:schemeClr val="dk1"/>
          </a:effectRef>
          <a:fontRef idx="minor">
            <a:schemeClr val="dk1"/>
          </a:fontRef>
        </p:style>
        <p:txBody>
          <a:bodyPr wrap="square" lIns="0" tIns="0" rIns="0" bIns="0" rtlCol="0" anchor="t"/>
          <a:lstStyle/>
          <a:p>
            <a:pPr marL="0" indent="0" algn="ctr">
              <a:lnSpc>
                <a:spcPts val="3840"/>
              </a:lnSpc>
              <a:buNone/>
            </a:pPr>
            <a:r>
              <a:rPr lang="en-US" sz="2400" b="1" dirty="0">
                <a:solidFill>
                  <a:srgbClr val="81C784"/>
                </a:solidFill>
                <a:latin typeface="Segoe UI" pitchFamily="34" charset="0"/>
                <a:ea typeface="Segoe UI" pitchFamily="34" charset="-122"/>
                <a:cs typeface="Segoe UI" pitchFamily="34" charset="-120"/>
              </a:rPr>
              <a:t>Dataset Overview</a:t>
            </a:r>
            <a:endParaRPr lang="en-US" sz="2400" dirty="0"/>
          </a:p>
        </p:txBody>
      </p:sp>
      <p:sp>
        <p:nvSpPr>
          <p:cNvPr id="5" name="Text 2"/>
          <p:cNvSpPr/>
          <p:nvPr/>
        </p:nvSpPr>
        <p:spPr>
          <a:xfrm>
            <a:off x="381000" y="935733"/>
            <a:ext cx="8382000" cy="910996"/>
          </a:xfrm>
          <a:prstGeom prst="rect">
            <a:avLst/>
          </a:prstGeom>
          <a:noFill/>
          <a:ln/>
        </p:spPr>
        <p:txBody>
          <a:bodyPr wrap="square" lIns="0" tIns="0" rIns="0" bIns="0" rtlCol="0" anchor="t"/>
          <a:lstStyle/>
          <a:p>
            <a:pPr marL="0" indent="0">
              <a:lnSpc>
                <a:spcPts val="1920"/>
              </a:lnSpc>
              <a:buNone/>
            </a:pPr>
            <a:r>
              <a:rPr lang="en-US" sz="1200" b="1" dirty="0">
                <a:solidFill>
                  <a:srgbClr val="FFB74D"/>
                </a:solidFill>
                <a:latin typeface="Segoe UI" pitchFamily="34" charset="0"/>
                <a:ea typeface="Segoe UI" pitchFamily="34" charset="-122"/>
                <a:cs typeface="Segoe UI" pitchFamily="34" charset="-120"/>
              </a:rPr>
              <a:t>Parkinsons Telemonitoring Dataset</a:t>
            </a:r>
            <a:r>
              <a:rPr lang="en-US" sz="1200" dirty="0">
                <a:solidFill>
                  <a:srgbClr val="F5F5F5"/>
                </a:solidFill>
                <a:latin typeface="Segoe UI" pitchFamily="34" charset="0"/>
                <a:ea typeface="Segoe UI" pitchFamily="34" charset="-122"/>
                <a:cs typeface="Segoe UI" pitchFamily="34" charset="-120"/>
              </a:rPr>
              <a:t> (UCI Machine Learning Repository)</a:t>
            </a:r>
          </a:p>
          <a:p>
            <a:pPr marL="0" indent="0">
              <a:lnSpc>
                <a:spcPts val="1920"/>
              </a:lnSpc>
              <a:buNone/>
            </a:pPr>
            <a:r>
              <a:rPr lang="en-US" sz="1200" b="1" dirty="0">
                <a:solidFill>
                  <a:srgbClr val="FFC000"/>
                </a:solidFill>
                <a:latin typeface="Segoe UI" pitchFamily="34" charset="0"/>
                <a:ea typeface="Segoe UI" pitchFamily="34" charset="-122"/>
                <a:cs typeface="Segoe UI" pitchFamily="34" charset="-120"/>
              </a:rPr>
              <a:t>Citation: </a:t>
            </a:r>
            <a:r>
              <a:rPr lang="en-US" sz="1200" dirty="0"/>
              <a:t>Tsanas, A. &amp; Little, M. (2009). Parkinsons Telemonitoring [Dataset]. UCI Machine Learning Repository. https://doi.org/10.24432/C5ZS3N.</a:t>
            </a:r>
          </a:p>
        </p:txBody>
      </p:sp>
      <p:sp>
        <p:nvSpPr>
          <p:cNvPr id="6" name="Text 3"/>
          <p:cNvSpPr/>
          <p:nvPr/>
        </p:nvSpPr>
        <p:spPr>
          <a:xfrm>
            <a:off x="381000" y="1913802"/>
            <a:ext cx="8143875" cy="3229697"/>
          </a:xfrm>
          <a:prstGeom prst="rect">
            <a:avLst/>
          </a:prstGeom>
          <a:noFill/>
          <a:ln/>
        </p:spPr>
        <p:txBody>
          <a:bodyPr wrap="square" lIns="0" tIns="0" rIns="0" bIns="0" rtlCol="0" anchor="t"/>
          <a:lstStyle/>
          <a:p>
            <a:pPr algn="l">
              <a:buNone/>
            </a:pPr>
            <a:r>
              <a:rPr lang="en-US" sz="1200" b="1" i="0" dirty="0">
                <a:effectLst/>
                <a:latin typeface="Times New Roman" panose="02020603050405020304" pitchFamily="18" charset="0"/>
                <a:cs typeface="Times New Roman" panose="02020603050405020304" pitchFamily="18" charset="0"/>
              </a:rPr>
              <a:t>Additional Information</a:t>
            </a:r>
          </a:p>
          <a:p>
            <a:pPr algn="l">
              <a:buNone/>
            </a:pPr>
            <a:r>
              <a:rPr lang="en-US" sz="1200" b="0" i="0" dirty="0">
                <a:effectLst/>
                <a:latin typeface="Times New Roman" panose="02020603050405020304" pitchFamily="18" charset="0"/>
                <a:cs typeface="Times New Roman" panose="02020603050405020304" pitchFamily="18" charset="0"/>
              </a:rPr>
              <a:t>This dataset is composed of a range of biomedical voice measurements from 42 people with early-stage Parkinson's disease recruited to a six-month trial of a telemonitoring device for remote symptom progression monitoring. The recordings were automatically captured in the patient's homes. Columns in the table contain subject number, subject age, subject gender, time interval from baseline recruitment date, motor UPDRS, total UPDRS, and 16 biomedical voice measures. Each row corresponds to one of 5,875 voice recording from these individuals. The main aim of the data is to predict the motor and total UPDRS scores ('</a:t>
            </a:r>
            <a:r>
              <a:rPr lang="en-US" sz="1200" b="0" i="0" dirty="0" err="1">
                <a:effectLst/>
                <a:latin typeface="Times New Roman" panose="02020603050405020304" pitchFamily="18" charset="0"/>
                <a:cs typeface="Times New Roman" panose="02020603050405020304" pitchFamily="18" charset="0"/>
              </a:rPr>
              <a:t>motor_UPDRS</a:t>
            </a:r>
            <a:r>
              <a:rPr lang="en-US" sz="1200" b="0" i="0" dirty="0">
                <a:effectLst/>
                <a:latin typeface="Times New Roman" panose="02020603050405020304" pitchFamily="18" charset="0"/>
                <a:cs typeface="Times New Roman" panose="02020603050405020304" pitchFamily="18" charset="0"/>
              </a:rPr>
              <a:t>' and '</a:t>
            </a:r>
            <a:r>
              <a:rPr lang="en-US" sz="1200" b="0" i="0" dirty="0" err="1">
                <a:effectLst/>
                <a:latin typeface="Times New Roman" panose="02020603050405020304" pitchFamily="18" charset="0"/>
                <a:cs typeface="Times New Roman" panose="02020603050405020304" pitchFamily="18" charset="0"/>
              </a:rPr>
              <a:t>total_UPDRS</a:t>
            </a:r>
            <a:r>
              <a:rPr lang="en-US" sz="1200" b="0" i="0" dirty="0">
                <a:effectLst/>
                <a:latin typeface="Times New Roman" panose="02020603050405020304" pitchFamily="18" charset="0"/>
                <a:cs typeface="Times New Roman" panose="02020603050405020304" pitchFamily="18" charset="0"/>
              </a:rPr>
              <a:t>') from the 16 voice measures.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EEE0D3-823F-8578-B094-156A48E3CF7E}"/>
            </a:ext>
          </a:extLst>
        </p:cNvPr>
        <p:cNvGrpSpPr/>
        <p:nvPr/>
      </p:nvGrpSpPr>
      <p:grpSpPr>
        <a:xfrm>
          <a:off x="0" y="0"/>
          <a:ext cx="0" cy="0"/>
          <a:chOff x="0" y="0"/>
          <a:chExt cx="0" cy="0"/>
        </a:xfrm>
      </p:grpSpPr>
      <p:sp>
        <p:nvSpPr>
          <p:cNvPr id="2" name="Text 5">
            <a:extLst>
              <a:ext uri="{FF2B5EF4-FFF2-40B4-BE49-F238E27FC236}">
                <a16:creationId xmlns:a16="http://schemas.microsoft.com/office/drawing/2014/main" id="{6CF92080-BD2F-6CC7-ADD1-8849EE73579A}"/>
              </a:ext>
            </a:extLst>
          </p:cNvPr>
          <p:cNvSpPr/>
          <p:nvPr/>
        </p:nvSpPr>
        <p:spPr>
          <a:xfrm>
            <a:off x="381000" y="381000"/>
            <a:ext cx="8549640" cy="487660"/>
          </a:xfrm>
          <a:prstGeom prst="rect">
            <a:avLst/>
          </a:prstGeom>
          <a:ln/>
        </p:spPr>
        <p:style>
          <a:lnRef idx="2">
            <a:schemeClr val="dk1"/>
          </a:lnRef>
          <a:fillRef idx="1">
            <a:schemeClr val="lt1"/>
          </a:fillRef>
          <a:effectRef idx="0">
            <a:schemeClr val="dk1"/>
          </a:effectRef>
          <a:fontRef idx="minor">
            <a:schemeClr val="dk1"/>
          </a:fontRef>
        </p:style>
        <p:txBody>
          <a:bodyPr wrap="square" lIns="0" tIns="0" rIns="0" bIns="0" rtlCol="0" anchor="t"/>
          <a:lstStyle/>
          <a:p>
            <a:pPr marL="0" indent="0" algn="ctr">
              <a:lnSpc>
                <a:spcPts val="3840"/>
              </a:lnSpc>
              <a:buNone/>
            </a:pPr>
            <a:r>
              <a:rPr lang="en-US" sz="2400" b="1" dirty="0">
                <a:solidFill>
                  <a:srgbClr val="81C784"/>
                </a:solidFill>
                <a:latin typeface="Segoe UI" pitchFamily="34" charset="0"/>
                <a:ea typeface="Segoe UI" pitchFamily="34" charset="-122"/>
                <a:cs typeface="Segoe UI" pitchFamily="34" charset="-120"/>
              </a:rPr>
              <a:t> A. Data Loading and Initial Cleaning</a:t>
            </a:r>
            <a:endParaRPr lang="en-US" sz="2400" dirty="0"/>
          </a:p>
        </p:txBody>
      </p:sp>
      <p:pic>
        <p:nvPicPr>
          <p:cNvPr id="5" name="Picture 4">
            <a:extLst>
              <a:ext uri="{FF2B5EF4-FFF2-40B4-BE49-F238E27FC236}">
                <a16:creationId xmlns:a16="http://schemas.microsoft.com/office/drawing/2014/main" id="{4B314E98-9BF3-F079-B4A4-08BAB0A7F3B7}"/>
              </a:ext>
            </a:extLst>
          </p:cNvPr>
          <p:cNvPicPr>
            <a:picLocks noChangeAspect="1"/>
          </p:cNvPicPr>
          <p:nvPr/>
        </p:nvPicPr>
        <p:blipFill>
          <a:blip r:embed="rId2"/>
          <a:stretch>
            <a:fillRect/>
          </a:stretch>
        </p:blipFill>
        <p:spPr>
          <a:xfrm>
            <a:off x="2187388" y="1052781"/>
            <a:ext cx="6436660" cy="3782835"/>
          </a:xfrm>
          <a:prstGeom prst="rect">
            <a:avLst/>
          </a:prstGeom>
        </p:spPr>
      </p:pic>
      <p:sp>
        <p:nvSpPr>
          <p:cNvPr id="6" name="TextBox 5">
            <a:extLst>
              <a:ext uri="{FF2B5EF4-FFF2-40B4-BE49-F238E27FC236}">
                <a16:creationId xmlns:a16="http://schemas.microsoft.com/office/drawing/2014/main" id="{AD5206F0-E6E0-09EA-598E-302AE789AA65}"/>
              </a:ext>
            </a:extLst>
          </p:cNvPr>
          <p:cNvSpPr txBox="1"/>
          <p:nvPr/>
        </p:nvSpPr>
        <p:spPr>
          <a:xfrm>
            <a:off x="519952" y="1052781"/>
            <a:ext cx="1990165"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Python Code </a:t>
            </a:r>
            <a:r>
              <a:rPr lang="en-US" dirty="0"/>
              <a:t>:</a:t>
            </a:r>
          </a:p>
        </p:txBody>
      </p:sp>
    </p:spTree>
    <p:extLst>
      <p:ext uri="{BB962C8B-B14F-4D97-AF65-F5344CB8AC3E}">
        <p14:creationId xmlns:p14="http://schemas.microsoft.com/office/powerpoint/2010/main" val="37045714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5">
            <a:extLst>
              <a:ext uri="{FF2B5EF4-FFF2-40B4-BE49-F238E27FC236}">
                <a16:creationId xmlns:a16="http://schemas.microsoft.com/office/drawing/2014/main" id="{1934B935-1B9A-FFDC-3A1D-086152A50AD4}"/>
              </a:ext>
            </a:extLst>
          </p:cNvPr>
          <p:cNvSpPr/>
          <p:nvPr/>
        </p:nvSpPr>
        <p:spPr>
          <a:xfrm>
            <a:off x="381000" y="381000"/>
            <a:ext cx="8549640" cy="487660"/>
          </a:xfrm>
          <a:prstGeom prst="rect">
            <a:avLst/>
          </a:prstGeom>
          <a:ln/>
        </p:spPr>
        <p:style>
          <a:lnRef idx="2">
            <a:schemeClr val="dk1"/>
          </a:lnRef>
          <a:fillRef idx="1">
            <a:schemeClr val="lt1"/>
          </a:fillRef>
          <a:effectRef idx="0">
            <a:schemeClr val="dk1"/>
          </a:effectRef>
          <a:fontRef idx="minor">
            <a:schemeClr val="dk1"/>
          </a:fontRef>
        </p:style>
        <p:txBody>
          <a:bodyPr wrap="square" lIns="0" tIns="0" rIns="0" bIns="0" rtlCol="0" anchor="t"/>
          <a:lstStyle/>
          <a:p>
            <a:pPr marL="0" indent="0" algn="ctr">
              <a:lnSpc>
                <a:spcPts val="3840"/>
              </a:lnSpc>
              <a:buNone/>
            </a:pPr>
            <a:r>
              <a:rPr lang="en-US" sz="2400" b="1" dirty="0">
                <a:solidFill>
                  <a:srgbClr val="81C784"/>
                </a:solidFill>
                <a:latin typeface="Segoe UI" pitchFamily="34" charset="0"/>
                <a:ea typeface="Segoe UI" pitchFamily="34" charset="-122"/>
                <a:cs typeface="Segoe UI" pitchFamily="34" charset="-120"/>
              </a:rPr>
              <a:t> A. Data Loading and Initial Cleaning</a:t>
            </a:r>
            <a:endParaRPr lang="en-US" sz="2400" dirty="0"/>
          </a:p>
        </p:txBody>
      </p:sp>
      <p:sp>
        <p:nvSpPr>
          <p:cNvPr id="3" name="TextBox 2">
            <a:extLst>
              <a:ext uri="{FF2B5EF4-FFF2-40B4-BE49-F238E27FC236}">
                <a16:creationId xmlns:a16="http://schemas.microsoft.com/office/drawing/2014/main" id="{8FE070CB-FA14-178F-6ADF-C3B9CC0968C7}"/>
              </a:ext>
            </a:extLst>
          </p:cNvPr>
          <p:cNvSpPr txBox="1"/>
          <p:nvPr/>
        </p:nvSpPr>
        <p:spPr>
          <a:xfrm>
            <a:off x="645459" y="1228165"/>
            <a:ext cx="7879976" cy="3170099"/>
          </a:xfrm>
          <a:prstGeom prst="rect">
            <a:avLst/>
          </a:prstGeom>
          <a:noFill/>
        </p:spPr>
        <p:txBody>
          <a:bodyPr wrap="square" rtlCol="0">
            <a:spAutoFit/>
          </a:bodyPr>
          <a:lstStyle/>
          <a:p>
            <a:r>
              <a:rPr lang="en-US" sz="1400" dirty="0">
                <a:latin typeface="Times New Roman" panose="02020603050405020304" pitchFamily="18" charset="0"/>
                <a:cs typeface="Times New Roman" panose="02020603050405020304" pitchFamily="18" charset="0"/>
              </a:rPr>
              <a:t>The Parkinsons Telemonitoring dataset has been successfully loaded into Python using pandas.</a:t>
            </a:r>
          </a:p>
          <a:p>
            <a:r>
              <a:rPr lang="en-US" sz="1400" dirty="0">
                <a:latin typeface="Times New Roman" panose="02020603050405020304" pitchFamily="18" charset="0"/>
                <a:cs typeface="Times New Roman" panose="02020603050405020304" pitchFamily="18" charset="0"/>
              </a:rPr>
              <a:t>The dataset contains:</a:t>
            </a:r>
          </a:p>
          <a:p>
            <a:r>
              <a:rPr lang="en-US" sz="1400" dirty="0">
                <a:latin typeface="Times New Roman" panose="02020603050405020304" pitchFamily="18" charset="0"/>
                <a:cs typeface="Times New Roman" panose="02020603050405020304" pitchFamily="18" charset="0"/>
              </a:rPr>
              <a:t>- 5,875 voice recordings from 42 patients with early-stage Parkinson's disease</a:t>
            </a:r>
          </a:p>
          <a:p>
            <a:r>
              <a:rPr lang="en-US" sz="1400" dirty="0">
                <a:latin typeface="Times New Roman" panose="02020603050405020304" pitchFamily="18" charset="0"/>
                <a:cs typeface="Times New Roman" panose="02020603050405020304" pitchFamily="18" charset="0"/>
              </a:rPr>
              <a:t>- 22 features including demographics, UPDRS scores, and 16 voice measurements</a:t>
            </a:r>
          </a:p>
          <a:p>
            <a:r>
              <a:rPr lang="en-US" sz="1400" dirty="0">
                <a:latin typeface="Times New Roman" panose="02020603050405020304" pitchFamily="18" charset="0"/>
                <a:cs typeface="Times New Roman" panose="02020603050405020304" pitchFamily="18" charset="0"/>
              </a:rPr>
              <a:t>- Recordings span approximately 6 months per patient (~140 recordings per patient on average)</a:t>
            </a:r>
          </a:p>
          <a:p>
            <a:r>
              <a:rPr lang="en-US" sz="1400" dirty="0">
                <a:latin typeface="Times New Roman" panose="02020603050405020304" pitchFamily="18" charset="0"/>
                <a:cs typeface="Times New Roman" panose="02020603050405020304" pitchFamily="18" charset="0"/>
              </a:rPr>
              <a:t>Initial Data Cleaning</a:t>
            </a:r>
          </a:p>
          <a:p>
            <a:endParaRPr lang="en-US" sz="1400" dirty="0">
              <a:latin typeface="Times New Roman" panose="02020603050405020304" pitchFamily="18" charset="0"/>
              <a:cs typeface="Times New Roman" panose="02020603050405020304" pitchFamily="18" charset="0"/>
            </a:endParaRPr>
          </a:p>
          <a:p>
            <a:r>
              <a:rPr lang="en-US" sz="1400" dirty="0">
                <a:latin typeface="Times New Roman" panose="02020603050405020304" pitchFamily="18" charset="0"/>
                <a:cs typeface="Times New Roman" panose="02020603050405020304" pitchFamily="18" charset="0"/>
              </a:rPr>
              <a:t>Data quality checks revealed:</a:t>
            </a:r>
          </a:p>
          <a:p>
            <a:r>
              <a:rPr lang="en-US" sz="1400" dirty="0">
                <a:latin typeface="Times New Roman" panose="02020603050405020304" pitchFamily="18" charset="0"/>
                <a:cs typeface="Times New Roman" panose="02020603050405020304" pitchFamily="18" charset="0"/>
              </a:rPr>
              <a:t>- No missing values - All 5,875 rows are complete across all 22 columns</a:t>
            </a:r>
          </a:p>
          <a:p>
            <a:r>
              <a:rPr lang="en-US" sz="1400" dirty="0">
                <a:latin typeface="Times New Roman" panose="02020603050405020304" pitchFamily="18" charset="0"/>
                <a:cs typeface="Times New Roman" panose="02020603050405020304" pitchFamily="18" charset="0"/>
              </a:rPr>
              <a:t>- No duplicate recordings - Each row represents a unique voice recording</a:t>
            </a:r>
          </a:p>
          <a:p>
            <a:r>
              <a:rPr lang="en-US" sz="1400" dirty="0">
                <a:latin typeface="Times New Roman" panose="02020603050405020304" pitchFamily="18" charset="0"/>
                <a:cs typeface="Times New Roman" panose="02020603050405020304" pitchFamily="18" charset="0"/>
              </a:rPr>
              <a:t>- Appropriate data types - All features correctly encoded (4 integers, 19 floats)</a:t>
            </a:r>
          </a:p>
          <a:p>
            <a:r>
              <a:rPr lang="en-US" sz="1400" dirty="0">
                <a:latin typeface="Times New Roman" panose="02020603050405020304" pitchFamily="18" charset="0"/>
                <a:cs typeface="Times New Roman" panose="02020603050405020304" pitchFamily="18" charset="0"/>
              </a:rPr>
              <a:t>The file includes an extra index column "Unnamed: 0" created during export, which was drop</a:t>
            </a:r>
          </a:p>
          <a:p>
            <a:r>
              <a:rPr lang="en-US" sz="1400" dirty="0">
                <a:latin typeface="Times New Roman" panose="02020603050405020304" pitchFamily="18" charset="0"/>
                <a:cs typeface="Times New Roman" panose="02020603050405020304" pitchFamily="18" charset="0"/>
              </a:rPr>
              <a:t>before analysis.</a:t>
            </a:r>
          </a:p>
          <a:p>
            <a:endParaRPr lang="en-US" dirty="0"/>
          </a:p>
        </p:txBody>
      </p:sp>
    </p:spTree>
    <p:extLst>
      <p:ext uri="{BB962C8B-B14F-4D97-AF65-F5344CB8AC3E}">
        <p14:creationId xmlns:p14="http://schemas.microsoft.com/office/powerpoint/2010/main" val="4358359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B6799D4-A89C-6AC6-F71B-08863888BF34}"/>
              </a:ext>
            </a:extLst>
          </p:cNvPr>
          <p:cNvSpPr txBox="1"/>
          <p:nvPr/>
        </p:nvSpPr>
        <p:spPr>
          <a:xfrm>
            <a:off x="627530" y="319278"/>
            <a:ext cx="7646894" cy="3447354"/>
          </a:xfrm>
          <a:prstGeom prst="rect">
            <a:avLst/>
          </a:prstGeom>
          <a:noFill/>
        </p:spPr>
        <p:txBody>
          <a:bodyPr wrap="square">
            <a:spAutoFit/>
          </a:bodyPr>
          <a:lstStyle/>
          <a:p>
            <a:pPr marL="0" marR="0">
              <a:lnSpc>
                <a:spcPct val="115000"/>
              </a:lnSpc>
              <a:spcAft>
                <a:spcPts val="800"/>
              </a:spcAft>
              <a:buNone/>
            </a:pPr>
            <a:r>
              <a:rPr lang="en-US" kern="100" dirty="0">
                <a:solidFill>
                  <a:srgbClr val="FFC000"/>
                </a:solidFill>
                <a:effectLst/>
                <a:latin typeface="Aptos" panose="020B0004020202020204" pitchFamily="34" charset="0"/>
                <a:ea typeface="Aptos" panose="020B0004020202020204" pitchFamily="34" charset="0"/>
                <a:cs typeface="Times New Roman" panose="02020603050405020304" pitchFamily="18" charset="0"/>
              </a:rPr>
              <a:t>Feature Variables Overview</a:t>
            </a:r>
          </a:p>
          <a:p>
            <a:pPr marL="0" marR="0">
              <a:lnSpc>
                <a:spcPct val="115000"/>
              </a:lnSpc>
              <a:spcAft>
                <a:spcPts val="800"/>
              </a:spcAft>
              <a:buNone/>
            </a:pPr>
            <a:r>
              <a:rPr lang="en-US" sz="1200" b="1" kern="100" dirty="0">
                <a:effectLst/>
                <a:latin typeface="Aptos" panose="020B0004020202020204" pitchFamily="34" charset="0"/>
                <a:ea typeface="Aptos" panose="020B0004020202020204" pitchFamily="34" charset="0"/>
                <a:cs typeface="Times New Roman" panose="02020603050405020304" pitchFamily="18" charset="0"/>
              </a:rPr>
              <a:t>Demographics (3 features):</a:t>
            </a:r>
            <a:endParaRPr lang="en-US" sz="12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marR="0" lvl="0" indent="-342900">
              <a:lnSpc>
                <a:spcPct val="115000"/>
              </a:lnSpc>
              <a:spcAft>
                <a:spcPts val="800"/>
              </a:spcAft>
              <a:buSzPts val="1000"/>
              <a:buFont typeface="Symbol" panose="05050102010706020507" pitchFamily="18" charset="2"/>
              <a:buChar char=""/>
              <a:tabLst>
                <a:tab pos="457200" algn="l"/>
              </a:tabLst>
            </a:pPr>
            <a:r>
              <a:rPr lang="en-US" sz="1200" kern="100" dirty="0">
                <a:effectLst/>
                <a:latin typeface="Aptos" panose="020B0004020202020204" pitchFamily="34" charset="0"/>
                <a:ea typeface="Aptos" panose="020B0004020202020204" pitchFamily="34" charset="0"/>
                <a:cs typeface="Times New Roman" panose="02020603050405020304" pitchFamily="18" charset="0"/>
              </a:rPr>
              <a:t>subject# — Patient identifier (1–42)</a:t>
            </a:r>
          </a:p>
          <a:p>
            <a:pPr marL="342900" marR="0" lvl="0" indent="-342900">
              <a:lnSpc>
                <a:spcPct val="115000"/>
              </a:lnSpc>
              <a:spcAft>
                <a:spcPts val="800"/>
              </a:spcAft>
              <a:buSzPts val="1000"/>
              <a:buFont typeface="Symbol" panose="05050102010706020507" pitchFamily="18" charset="2"/>
              <a:buChar char=""/>
              <a:tabLst>
                <a:tab pos="457200" algn="l"/>
              </a:tabLst>
            </a:pPr>
            <a:r>
              <a:rPr lang="en-US" sz="1200" kern="100" dirty="0">
                <a:effectLst/>
                <a:latin typeface="Aptos" panose="020B0004020202020204" pitchFamily="34" charset="0"/>
                <a:ea typeface="Aptos" panose="020B0004020202020204" pitchFamily="34" charset="0"/>
                <a:cs typeface="Times New Roman" panose="02020603050405020304" pitchFamily="18" charset="0"/>
              </a:rPr>
              <a:t>age — Patient age at baseline</a:t>
            </a:r>
          </a:p>
          <a:p>
            <a:pPr marL="342900" marR="0" lvl="0" indent="-342900">
              <a:lnSpc>
                <a:spcPct val="115000"/>
              </a:lnSpc>
              <a:spcAft>
                <a:spcPts val="800"/>
              </a:spcAft>
              <a:buSzPts val="1000"/>
              <a:buFont typeface="Symbol" panose="05050102010706020507" pitchFamily="18" charset="2"/>
              <a:buChar char=""/>
              <a:tabLst>
                <a:tab pos="457200" algn="l"/>
              </a:tabLst>
            </a:pPr>
            <a:r>
              <a:rPr lang="en-US" sz="1200" kern="100" dirty="0">
                <a:effectLst/>
                <a:latin typeface="Aptos" panose="020B0004020202020204" pitchFamily="34" charset="0"/>
                <a:ea typeface="Aptos" panose="020B0004020202020204" pitchFamily="34" charset="0"/>
                <a:cs typeface="Times New Roman" panose="02020603050405020304" pitchFamily="18" charset="0"/>
              </a:rPr>
              <a:t>sex — Gender (0 = male, 1 = female)</a:t>
            </a:r>
          </a:p>
          <a:p>
            <a:pPr marL="342900" marR="0" lvl="0" indent="-342900">
              <a:lnSpc>
                <a:spcPct val="115000"/>
              </a:lnSpc>
              <a:spcAft>
                <a:spcPts val="800"/>
              </a:spcAft>
              <a:buSzPts val="1000"/>
              <a:buFont typeface="Symbol" panose="05050102010706020507" pitchFamily="18" charset="2"/>
              <a:buChar char=""/>
              <a:tabLst>
                <a:tab pos="457200" algn="l"/>
              </a:tabLst>
            </a:pPr>
            <a:r>
              <a:rPr lang="en-US" sz="1200" kern="100" dirty="0" err="1">
                <a:effectLst/>
                <a:latin typeface="Aptos" panose="020B0004020202020204" pitchFamily="34" charset="0"/>
                <a:ea typeface="Aptos" panose="020B0004020202020204" pitchFamily="34" charset="0"/>
                <a:cs typeface="Times New Roman" panose="02020603050405020304" pitchFamily="18" charset="0"/>
              </a:rPr>
              <a:t>test_time</a:t>
            </a:r>
            <a:r>
              <a:rPr lang="en-US" sz="1200" kern="100" dirty="0">
                <a:effectLst/>
                <a:latin typeface="Aptos" panose="020B0004020202020204" pitchFamily="34" charset="0"/>
                <a:ea typeface="Aptos" panose="020B0004020202020204" pitchFamily="34" charset="0"/>
                <a:cs typeface="Times New Roman" panose="02020603050405020304" pitchFamily="18" charset="0"/>
              </a:rPr>
              <a:t> — Days since recruitment</a:t>
            </a:r>
          </a:p>
          <a:p>
            <a:pPr marL="0" marR="0">
              <a:lnSpc>
                <a:spcPct val="115000"/>
              </a:lnSpc>
              <a:spcAft>
                <a:spcPts val="800"/>
              </a:spcAft>
              <a:buNone/>
            </a:pPr>
            <a:r>
              <a:rPr lang="en-US" sz="1200" b="1" kern="100" dirty="0">
                <a:effectLst/>
                <a:latin typeface="Aptos" panose="020B0004020202020204" pitchFamily="34" charset="0"/>
                <a:ea typeface="Aptos" panose="020B0004020202020204" pitchFamily="34" charset="0"/>
                <a:cs typeface="Times New Roman" panose="02020603050405020304" pitchFamily="18" charset="0"/>
              </a:rPr>
              <a:t>Target Variables (2 features):</a:t>
            </a:r>
            <a:endParaRPr lang="en-US" sz="12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marR="0" lvl="0" indent="-342900">
              <a:lnSpc>
                <a:spcPct val="115000"/>
              </a:lnSpc>
              <a:spcAft>
                <a:spcPts val="800"/>
              </a:spcAft>
              <a:buSzPts val="1000"/>
              <a:buFont typeface="Symbol" panose="05050102010706020507" pitchFamily="18" charset="2"/>
              <a:buChar char=""/>
              <a:tabLst>
                <a:tab pos="457200" algn="l"/>
              </a:tabLst>
            </a:pPr>
            <a:r>
              <a:rPr lang="en-US" sz="1200" kern="100" dirty="0" err="1">
                <a:effectLst/>
                <a:latin typeface="Aptos" panose="020B0004020202020204" pitchFamily="34" charset="0"/>
                <a:ea typeface="Aptos" panose="020B0004020202020204" pitchFamily="34" charset="0"/>
                <a:cs typeface="Times New Roman" panose="02020603050405020304" pitchFamily="18" charset="0"/>
              </a:rPr>
              <a:t>motor_UPDRS</a:t>
            </a:r>
            <a:r>
              <a:rPr lang="en-US" sz="1200" kern="100" dirty="0">
                <a:effectLst/>
                <a:latin typeface="Aptos" panose="020B0004020202020204" pitchFamily="34" charset="0"/>
                <a:ea typeface="Aptos" panose="020B0004020202020204" pitchFamily="34" charset="0"/>
                <a:cs typeface="Times New Roman" panose="02020603050405020304" pitchFamily="18" charset="0"/>
              </a:rPr>
              <a:t> — Unified Parkinson's Disease Rating Scale, motor subscale (0–108, higher = more severe)</a:t>
            </a:r>
          </a:p>
          <a:p>
            <a:pPr marL="342900" marR="0" lvl="0" indent="-342900">
              <a:lnSpc>
                <a:spcPct val="115000"/>
              </a:lnSpc>
              <a:spcAft>
                <a:spcPts val="800"/>
              </a:spcAft>
              <a:buSzPts val="1000"/>
              <a:buFont typeface="Symbol" panose="05050102010706020507" pitchFamily="18" charset="2"/>
              <a:buChar char=""/>
              <a:tabLst>
                <a:tab pos="457200" algn="l"/>
              </a:tabLst>
            </a:pPr>
            <a:r>
              <a:rPr lang="en-US" sz="1200" kern="100" dirty="0" err="1">
                <a:effectLst/>
                <a:latin typeface="Aptos" panose="020B0004020202020204" pitchFamily="34" charset="0"/>
                <a:ea typeface="Aptos" panose="020B0004020202020204" pitchFamily="34" charset="0"/>
                <a:cs typeface="Times New Roman" panose="02020603050405020304" pitchFamily="18" charset="0"/>
              </a:rPr>
              <a:t>total_UPDRS</a:t>
            </a:r>
            <a:r>
              <a:rPr lang="en-US" sz="1200" kern="100" dirty="0">
                <a:effectLst/>
                <a:latin typeface="Aptos" panose="020B0004020202020204" pitchFamily="34" charset="0"/>
                <a:ea typeface="Aptos" panose="020B0004020202020204" pitchFamily="34" charset="0"/>
                <a:cs typeface="Times New Roman" panose="02020603050405020304" pitchFamily="18" charset="0"/>
              </a:rPr>
              <a:t> — Total UPDRS score (0–176, higher = more severe)</a:t>
            </a:r>
          </a:p>
          <a:p>
            <a:pPr marL="0" marR="0">
              <a:lnSpc>
                <a:spcPct val="115000"/>
              </a:lnSpc>
              <a:spcAft>
                <a:spcPts val="800"/>
              </a:spcAft>
              <a:buNone/>
            </a:pPr>
            <a:r>
              <a:rPr lang="en-US" sz="1200" b="1" kern="100" dirty="0">
                <a:effectLst/>
                <a:latin typeface="Aptos" panose="020B0004020202020204" pitchFamily="34" charset="0"/>
                <a:ea typeface="Aptos" panose="020B0004020202020204" pitchFamily="34" charset="0"/>
                <a:cs typeface="Times New Roman" panose="02020603050405020304" pitchFamily="18" charset="0"/>
              </a:rPr>
              <a:t>Voice Features (16 features):</a:t>
            </a:r>
            <a:r>
              <a:rPr lang="en-US" sz="1200" kern="100" dirty="0">
                <a:effectLst/>
                <a:latin typeface="Aptos" panose="020B0004020202020204" pitchFamily="34" charset="0"/>
                <a:ea typeface="Aptos" panose="020B0004020202020204" pitchFamily="34" charset="0"/>
                <a:cs typeface="Times New Roman" panose="02020603050405020304" pitchFamily="18" charset="0"/>
              </a:rPr>
              <a:t> Jitter(%), </a:t>
            </a:r>
            <a:r>
              <a:rPr lang="en-US" sz="1200" kern="100" dirty="0" err="1">
                <a:effectLst/>
                <a:latin typeface="Aptos" panose="020B0004020202020204" pitchFamily="34" charset="0"/>
                <a:ea typeface="Aptos" panose="020B0004020202020204" pitchFamily="34" charset="0"/>
                <a:cs typeface="Times New Roman" panose="02020603050405020304" pitchFamily="18" charset="0"/>
              </a:rPr>
              <a:t>Jitter:RAP</a:t>
            </a:r>
            <a:r>
              <a:rPr lang="en-US" sz="1200" kern="100" dirty="0">
                <a:effectLst/>
                <a:latin typeface="Aptos" panose="020B0004020202020204" pitchFamily="34" charset="0"/>
                <a:ea typeface="Aptos" panose="020B0004020202020204" pitchFamily="34" charset="0"/>
                <a:cs typeface="Times New Roman" panose="02020603050405020304" pitchFamily="18" charset="0"/>
              </a:rPr>
              <a:t>, </a:t>
            </a:r>
            <a:r>
              <a:rPr lang="en-US" sz="1200" kern="100" dirty="0" err="1">
                <a:effectLst/>
                <a:latin typeface="Aptos" panose="020B0004020202020204" pitchFamily="34" charset="0"/>
                <a:ea typeface="Aptos" panose="020B0004020202020204" pitchFamily="34" charset="0"/>
                <a:cs typeface="Times New Roman" panose="02020603050405020304" pitchFamily="18" charset="0"/>
              </a:rPr>
              <a:t>Jitter:DDP</a:t>
            </a:r>
            <a:r>
              <a:rPr lang="en-US" sz="1200" kern="100" dirty="0">
                <a:effectLst/>
                <a:latin typeface="Aptos" panose="020B0004020202020204" pitchFamily="34" charset="0"/>
                <a:ea typeface="Aptos" panose="020B0004020202020204" pitchFamily="34" charset="0"/>
                <a:cs typeface="Times New Roman" panose="02020603050405020304" pitchFamily="18" charset="0"/>
              </a:rPr>
              <a:t>, Shimmer, Shimmer:APQ3, Shimmer:APQ5, Shimmer:APQ11, </a:t>
            </a:r>
            <a:r>
              <a:rPr lang="en-US" sz="1200" kern="100" dirty="0" err="1">
                <a:effectLst/>
                <a:latin typeface="Aptos" panose="020B0004020202020204" pitchFamily="34" charset="0"/>
                <a:ea typeface="Aptos" panose="020B0004020202020204" pitchFamily="34" charset="0"/>
                <a:cs typeface="Times New Roman" panose="02020603050405020304" pitchFamily="18" charset="0"/>
              </a:rPr>
              <a:t>Shimmer:DDA</a:t>
            </a:r>
            <a:r>
              <a:rPr lang="en-US" sz="1200" kern="100" dirty="0">
                <a:effectLst/>
                <a:latin typeface="Aptos" panose="020B0004020202020204" pitchFamily="34" charset="0"/>
                <a:ea typeface="Aptos" panose="020B0004020202020204" pitchFamily="34" charset="0"/>
                <a:cs typeface="Times New Roman" panose="02020603050405020304" pitchFamily="18" charset="0"/>
              </a:rPr>
              <a:t>, NHR, HNR, RPDE, DFA, PPE</a:t>
            </a:r>
          </a:p>
        </p:txBody>
      </p:sp>
    </p:spTree>
    <p:extLst>
      <p:ext uri="{BB962C8B-B14F-4D97-AF65-F5344CB8AC3E}">
        <p14:creationId xmlns:p14="http://schemas.microsoft.com/office/powerpoint/2010/main" val="7266087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C9ECDD5C-152A-4CC7-8333-0F367B3A62EA}"/>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613"/>
          <a:stretch/>
        </p:blipFill>
        <p:spPr>
          <a:xfrm>
            <a:off x="0" y="2002263"/>
            <a:ext cx="3027759" cy="3141237"/>
          </a:xfrm>
          <a:prstGeom prst="rect">
            <a:avLst/>
          </a:prstGeom>
        </p:spPr>
      </p:pic>
      <p:pic>
        <p:nvPicPr>
          <p:cNvPr id="9" name="Picture 8">
            <a:extLst>
              <a:ext uri="{FF2B5EF4-FFF2-40B4-BE49-F238E27FC236}">
                <a16:creationId xmlns:a16="http://schemas.microsoft.com/office/drawing/2014/main" id="{7F5C92A3-369B-43F3-BDCE-E560B1B0EC8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5640"/>
          <a:stretch/>
        </p:blipFill>
        <p:spPr>
          <a:xfrm>
            <a:off x="0" y="2169260"/>
            <a:ext cx="1141809" cy="1774090"/>
          </a:xfrm>
          <a:prstGeom prst="rect">
            <a:avLst/>
          </a:prstGeom>
        </p:spPr>
      </p:pic>
      <p:sp>
        <p:nvSpPr>
          <p:cNvPr id="11" name="Oval 10">
            <a:extLst>
              <a:ext uri="{FF2B5EF4-FFF2-40B4-BE49-F238E27FC236}">
                <a16:creationId xmlns:a16="http://schemas.microsoft.com/office/drawing/2014/main" id="{AEBE9F1A-B38D-446E-83AE-14B17CE77F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56759" y="1257300"/>
            <a:ext cx="2114550" cy="211455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13" name="Picture 12">
            <a:extLst>
              <a:ext uri="{FF2B5EF4-FFF2-40B4-BE49-F238E27FC236}">
                <a16:creationId xmlns:a16="http://schemas.microsoft.com/office/drawing/2014/main" id="{915B5014-A7EC-4BA6-9C83-8840CF81DB2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28813"/>
          <a:stretch/>
        </p:blipFill>
        <p:spPr>
          <a:xfrm>
            <a:off x="5999559" y="0"/>
            <a:ext cx="1202540" cy="856055"/>
          </a:xfrm>
          <a:prstGeom prst="rect">
            <a:avLst/>
          </a:prstGeom>
        </p:spPr>
      </p:pic>
      <p:pic>
        <p:nvPicPr>
          <p:cNvPr id="15" name="Picture 14">
            <a:extLst>
              <a:ext uri="{FF2B5EF4-FFF2-40B4-BE49-F238E27FC236}">
                <a16:creationId xmlns:a16="http://schemas.microsoft.com/office/drawing/2014/main" id="{022C43AB-86D7-420D-8AD7-DC0A15FDD0A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6454408" y="4572000"/>
            <a:ext cx="745301" cy="571500"/>
          </a:xfrm>
          <a:prstGeom prst="rect">
            <a:avLst/>
          </a:prstGeom>
        </p:spPr>
      </p:pic>
      <p:sp>
        <p:nvSpPr>
          <p:cNvPr id="17" name="Rectangle 16">
            <a:extLst>
              <a:ext uri="{FF2B5EF4-FFF2-40B4-BE49-F238E27FC236}">
                <a16:creationId xmlns:a16="http://schemas.microsoft.com/office/drawing/2014/main" id="{5E3EB826-A471-488F-9E8A-D65528A3C0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8359" y="0"/>
            <a:ext cx="514350" cy="85725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Rectangle 18">
            <a:extLst>
              <a:ext uri="{FF2B5EF4-FFF2-40B4-BE49-F238E27FC236}">
                <a16:creationId xmlns:a16="http://schemas.microsoft.com/office/drawing/2014/main" id="{D85D5AA8-773B-469A-8802-9645A4DC9B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C75AF42C-C556-454E-B2D3-2C917CB812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8359" y="0"/>
            <a:ext cx="514350" cy="85725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graphicFrame>
        <p:nvGraphicFramePr>
          <p:cNvPr id="2" name="Table 1">
            <a:extLst>
              <a:ext uri="{FF2B5EF4-FFF2-40B4-BE49-F238E27FC236}">
                <a16:creationId xmlns:a16="http://schemas.microsoft.com/office/drawing/2014/main" id="{C67AC86D-40BE-6929-3CFE-A9266CF0BDC4}"/>
              </a:ext>
            </a:extLst>
          </p:cNvPr>
          <p:cNvGraphicFramePr>
            <a:graphicFrameLocks noGrp="1"/>
          </p:cNvGraphicFramePr>
          <p:nvPr>
            <p:extLst>
              <p:ext uri="{D42A27DB-BD31-4B8C-83A1-F6EECF244321}">
                <p14:modId xmlns:p14="http://schemas.microsoft.com/office/powerpoint/2010/main" val="3274397438"/>
              </p:ext>
            </p:extLst>
          </p:nvPr>
        </p:nvGraphicFramePr>
        <p:xfrm>
          <a:off x="232476" y="719237"/>
          <a:ext cx="8110235" cy="4193724"/>
        </p:xfrm>
        <a:graphic>
          <a:graphicData uri="http://schemas.openxmlformats.org/drawingml/2006/table">
            <a:tbl>
              <a:tblPr/>
              <a:tblGrid>
                <a:gridCol w="1075574">
                  <a:extLst>
                    <a:ext uri="{9D8B030D-6E8A-4147-A177-3AD203B41FA5}">
                      <a16:colId xmlns:a16="http://schemas.microsoft.com/office/drawing/2014/main" val="3687757834"/>
                    </a:ext>
                  </a:extLst>
                </a:gridCol>
                <a:gridCol w="693909">
                  <a:extLst>
                    <a:ext uri="{9D8B030D-6E8A-4147-A177-3AD203B41FA5}">
                      <a16:colId xmlns:a16="http://schemas.microsoft.com/office/drawing/2014/main" val="187735966"/>
                    </a:ext>
                  </a:extLst>
                </a:gridCol>
                <a:gridCol w="941895">
                  <a:extLst>
                    <a:ext uri="{9D8B030D-6E8A-4147-A177-3AD203B41FA5}">
                      <a16:colId xmlns:a16="http://schemas.microsoft.com/office/drawing/2014/main" val="2715627006"/>
                    </a:ext>
                  </a:extLst>
                </a:gridCol>
                <a:gridCol w="1081386">
                  <a:extLst>
                    <a:ext uri="{9D8B030D-6E8A-4147-A177-3AD203B41FA5}">
                      <a16:colId xmlns:a16="http://schemas.microsoft.com/office/drawing/2014/main" val="1148903510"/>
                    </a:ext>
                  </a:extLst>
                </a:gridCol>
                <a:gridCol w="3113706">
                  <a:extLst>
                    <a:ext uri="{9D8B030D-6E8A-4147-A177-3AD203B41FA5}">
                      <a16:colId xmlns:a16="http://schemas.microsoft.com/office/drawing/2014/main" val="628215006"/>
                    </a:ext>
                  </a:extLst>
                </a:gridCol>
                <a:gridCol w="515669">
                  <a:extLst>
                    <a:ext uri="{9D8B030D-6E8A-4147-A177-3AD203B41FA5}">
                      <a16:colId xmlns:a16="http://schemas.microsoft.com/office/drawing/2014/main" val="2713185874"/>
                    </a:ext>
                  </a:extLst>
                </a:gridCol>
                <a:gridCol w="688096">
                  <a:extLst>
                    <a:ext uri="{9D8B030D-6E8A-4147-A177-3AD203B41FA5}">
                      <a16:colId xmlns:a16="http://schemas.microsoft.com/office/drawing/2014/main" val="3454366422"/>
                    </a:ext>
                  </a:extLst>
                </a:gridCol>
              </a:tblGrid>
              <a:tr h="431574">
                <a:tc>
                  <a:txBody>
                    <a:bodyPr/>
                    <a:lstStyle/>
                    <a:p>
                      <a:pPr fontAlgn="ctr">
                        <a:buNone/>
                      </a:pPr>
                      <a:r>
                        <a:rPr lang="en-US" sz="1100">
                          <a:solidFill>
                            <a:srgbClr val="000000"/>
                          </a:solidFill>
                          <a:effectLst/>
                        </a:rPr>
                        <a:t>Variable Name</a:t>
                      </a:r>
                    </a:p>
                  </a:txBody>
                  <a:tcPr marL="16105" marR="16105" marT="8052" marB="8052"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AFAFA"/>
                    </a:solidFill>
                  </a:tcPr>
                </a:tc>
                <a:tc>
                  <a:txBody>
                    <a:bodyPr/>
                    <a:lstStyle/>
                    <a:p>
                      <a:pPr fontAlgn="ctr">
                        <a:buNone/>
                      </a:pPr>
                      <a:r>
                        <a:rPr lang="en-US" sz="1100">
                          <a:solidFill>
                            <a:srgbClr val="000000"/>
                          </a:solidFill>
                          <a:effectLst/>
                        </a:rPr>
                        <a:t>Role</a:t>
                      </a:r>
                    </a:p>
                  </a:txBody>
                  <a:tcPr marL="16105" marR="16105" marT="8052" marB="8052"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AFAFA"/>
                    </a:solidFill>
                  </a:tcPr>
                </a:tc>
                <a:tc>
                  <a:txBody>
                    <a:bodyPr/>
                    <a:lstStyle/>
                    <a:p>
                      <a:pPr fontAlgn="ctr">
                        <a:buNone/>
                      </a:pPr>
                      <a:r>
                        <a:rPr lang="en-US" sz="1100">
                          <a:solidFill>
                            <a:srgbClr val="000000"/>
                          </a:solidFill>
                          <a:effectLst/>
                        </a:rPr>
                        <a:t>Type</a:t>
                      </a:r>
                    </a:p>
                  </a:txBody>
                  <a:tcPr marL="16105" marR="16105" marT="8052" marB="8052"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AFAFA"/>
                    </a:solidFill>
                  </a:tcPr>
                </a:tc>
                <a:tc>
                  <a:txBody>
                    <a:bodyPr/>
                    <a:lstStyle/>
                    <a:p>
                      <a:pPr fontAlgn="ctr">
                        <a:buNone/>
                      </a:pPr>
                      <a:r>
                        <a:rPr lang="en-US" sz="1100">
                          <a:solidFill>
                            <a:srgbClr val="000000"/>
                          </a:solidFill>
                          <a:effectLst/>
                        </a:rPr>
                        <a:t>Demographic</a:t>
                      </a:r>
                    </a:p>
                  </a:txBody>
                  <a:tcPr marL="16105" marR="16105" marT="8052" marB="8052"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AFAFA"/>
                    </a:solidFill>
                  </a:tcPr>
                </a:tc>
                <a:tc>
                  <a:txBody>
                    <a:bodyPr/>
                    <a:lstStyle/>
                    <a:p>
                      <a:pPr fontAlgn="ctr">
                        <a:buNone/>
                      </a:pPr>
                      <a:r>
                        <a:rPr lang="en-US" sz="1100">
                          <a:solidFill>
                            <a:srgbClr val="000000"/>
                          </a:solidFill>
                          <a:effectLst/>
                        </a:rPr>
                        <a:t>Description</a:t>
                      </a:r>
                    </a:p>
                  </a:txBody>
                  <a:tcPr marL="16105" marR="16105" marT="8052" marB="8052"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AFAFA"/>
                    </a:solidFill>
                  </a:tcPr>
                </a:tc>
                <a:tc>
                  <a:txBody>
                    <a:bodyPr/>
                    <a:lstStyle/>
                    <a:p>
                      <a:pPr fontAlgn="ctr">
                        <a:buNone/>
                      </a:pPr>
                      <a:r>
                        <a:rPr lang="en-US" sz="1100">
                          <a:solidFill>
                            <a:srgbClr val="000000"/>
                          </a:solidFill>
                          <a:effectLst/>
                        </a:rPr>
                        <a:t>Units</a:t>
                      </a:r>
                    </a:p>
                  </a:txBody>
                  <a:tcPr marL="16105" marR="16105" marT="8052" marB="8052"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AFAFA"/>
                    </a:solidFill>
                  </a:tcPr>
                </a:tc>
                <a:tc>
                  <a:txBody>
                    <a:bodyPr/>
                    <a:lstStyle/>
                    <a:p>
                      <a:pPr fontAlgn="ctr">
                        <a:buNone/>
                      </a:pPr>
                      <a:r>
                        <a:rPr lang="en-US" sz="1100">
                          <a:solidFill>
                            <a:srgbClr val="000000"/>
                          </a:solidFill>
                          <a:effectLst/>
                        </a:rPr>
                        <a:t>Missing Values</a:t>
                      </a:r>
                    </a:p>
                  </a:txBody>
                  <a:tcPr marL="16105" marR="16105" marT="8052" marB="8052"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AFAFA"/>
                    </a:solidFill>
                  </a:tcPr>
                </a:tc>
                <a:extLst>
                  <a:ext uri="{0D108BD9-81ED-4DB2-BD59-A6C34878D82A}">
                    <a16:rowId xmlns:a16="http://schemas.microsoft.com/office/drawing/2014/main" val="3468487394"/>
                  </a:ext>
                </a:extLst>
              </a:tr>
              <a:tr h="247044">
                <a:tc>
                  <a:txBody>
                    <a:bodyPr/>
                    <a:lstStyle/>
                    <a:p>
                      <a:pPr fontAlgn="ctr">
                        <a:buNone/>
                      </a:pPr>
                      <a:r>
                        <a:rPr lang="en-US" sz="1100">
                          <a:solidFill>
                            <a:srgbClr val="000000"/>
                          </a:solidFill>
                          <a:effectLst/>
                        </a:rPr>
                        <a:t>subject#</a:t>
                      </a:r>
                    </a:p>
                  </a:txBody>
                  <a:tcPr marL="16105" marR="16105" marT="8052" marB="8052"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AFAFA"/>
                    </a:solidFill>
                  </a:tcPr>
                </a:tc>
                <a:tc>
                  <a:txBody>
                    <a:bodyPr/>
                    <a:lstStyle/>
                    <a:p>
                      <a:pPr fontAlgn="ctr">
                        <a:buNone/>
                      </a:pPr>
                      <a:r>
                        <a:rPr lang="en-US" sz="1100">
                          <a:solidFill>
                            <a:srgbClr val="000000"/>
                          </a:solidFill>
                          <a:effectLst/>
                        </a:rPr>
                        <a:t>ID</a:t>
                      </a:r>
                    </a:p>
                  </a:txBody>
                  <a:tcPr marL="16105" marR="16105" marT="8052" marB="8052"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AFAFA"/>
                    </a:solidFill>
                  </a:tcPr>
                </a:tc>
                <a:tc>
                  <a:txBody>
                    <a:bodyPr/>
                    <a:lstStyle/>
                    <a:p>
                      <a:pPr fontAlgn="ctr">
                        <a:buNone/>
                      </a:pPr>
                      <a:r>
                        <a:rPr lang="en-US" sz="1100">
                          <a:solidFill>
                            <a:srgbClr val="000000"/>
                          </a:solidFill>
                          <a:effectLst/>
                        </a:rPr>
                        <a:t>Integer</a:t>
                      </a:r>
                    </a:p>
                  </a:txBody>
                  <a:tcPr marL="16105" marR="16105" marT="8052" marB="8052"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AFAFA"/>
                    </a:solidFill>
                  </a:tcPr>
                </a:tc>
                <a:tc>
                  <a:txBody>
                    <a:bodyPr/>
                    <a:lstStyle/>
                    <a:p>
                      <a:pPr fontAlgn="ctr">
                        <a:buNone/>
                      </a:pPr>
                      <a:endParaRPr lang="en-US" sz="1100">
                        <a:effectLst/>
                      </a:endParaRPr>
                    </a:p>
                  </a:txBody>
                  <a:tcPr marL="16105" marR="16105" marT="8052" marB="8052"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AFAFA"/>
                    </a:solidFill>
                  </a:tcPr>
                </a:tc>
                <a:tc>
                  <a:txBody>
                    <a:bodyPr/>
                    <a:lstStyle/>
                    <a:p>
                      <a:pPr fontAlgn="ctr">
                        <a:buNone/>
                      </a:pPr>
                      <a:r>
                        <a:rPr lang="en-US" sz="1100">
                          <a:solidFill>
                            <a:srgbClr val="000000"/>
                          </a:solidFill>
                          <a:effectLst/>
                        </a:rPr>
                        <a:t>Integer that uniquely identifies each subject</a:t>
                      </a:r>
                    </a:p>
                  </a:txBody>
                  <a:tcPr marL="16105" marR="16105" marT="8052" marB="8052"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AFAFA"/>
                    </a:solidFill>
                  </a:tcPr>
                </a:tc>
                <a:tc>
                  <a:txBody>
                    <a:bodyPr/>
                    <a:lstStyle/>
                    <a:p>
                      <a:pPr fontAlgn="ctr">
                        <a:buNone/>
                      </a:pPr>
                      <a:endParaRPr lang="en-US" sz="1100">
                        <a:effectLst/>
                      </a:endParaRPr>
                    </a:p>
                  </a:txBody>
                  <a:tcPr marL="16105" marR="16105" marT="8052" marB="8052"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AFAFA"/>
                    </a:solidFill>
                  </a:tcPr>
                </a:tc>
                <a:tc>
                  <a:txBody>
                    <a:bodyPr/>
                    <a:lstStyle/>
                    <a:p>
                      <a:pPr fontAlgn="ctr">
                        <a:buNone/>
                      </a:pPr>
                      <a:r>
                        <a:rPr lang="en-US" sz="1100">
                          <a:solidFill>
                            <a:srgbClr val="000000"/>
                          </a:solidFill>
                          <a:effectLst/>
                        </a:rPr>
                        <a:t>no</a:t>
                      </a:r>
                    </a:p>
                  </a:txBody>
                  <a:tcPr marL="16105" marR="16105" marT="8052" marB="8052"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AFAFA"/>
                    </a:solidFill>
                  </a:tcPr>
                </a:tc>
                <a:extLst>
                  <a:ext uri="{0D108BD9-81ED-4DB2-BD59-A6C34878D82A}">
                    <a16:rowId xmlns:a16="http://schemas.microsoft.com/office/drawing/2014/main" val="1810344667"/>
                  </a:ext>
                </a:extLst>
              </a:tr>
              <a:tr h="247044">
                <a:tc>
                  <a:txBody>
                    <a:bodyPr/>
                    <a:lstStyle/>
                    <a:p>
                      <a:pPr fontAlgn="ctr">
                        <a:buNone/>
                      </a:pPr>
                      <a:r>
                        <a:rPr lang="en-US" sz="1100">
                          <a:solidFill>
                            <a:srgbClr val="000000"/>
                          </a:solidFill>
                          <a:effectLst/>
                        </a:rPr>
                        <a:t>age</a:t>
                      </a:r>
                    </a:p>
                  </a:txBody>
                  <a:tcPr marL="16105" marR="16105" marT="8052" marB="8052"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AFAFA"/>
                    </a:solidFill>
                  </a:tcPr>
                </a:tc>
                <a:tc>
                  <a:txBody>
                    <a:bodyPr/>
                    <a:lstStyle/>
                    <a:p>
                      <a:pPr fontAlgn="ctr">
                        <a:buNone/>
                      </a:pPr>
                      <a:r>
                        <a:rPr lang="en-US" sz="1100">
                          <a:solidFill>
                            <a:srgbClr val="000000"/>
                          </a:solidFill>
                          <a:effectLst/>
                        </a:rPr>
                        <a:t>Feature</a:t>
                      </a:r>
                    </a:p>
                  </a:txBody>
                  <a:tcPr marL="16105" marR="16105" marT="8052" marB="8052"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AFAFA"/>
                    </a:solidFill>
                  </a:tcPr>
                </a:tc>
                <a:tc>
                  <a:txBody>
                    <a:bodyPr/>
                    <a:lstStyle/>
                    <a:p>
                      <a:pPr fontAlgn="ctr">
                        <a:buNone/>
                      </a:pPr>
                      <a:r>
                        <a:rPr lang="en-US" sz="1100">
                          <a:solidFill>
                            <a:srgbClr val="000000"/>
                          </a:solidFill>
                          <a:effectLst/>
                        </a:rPr>
                        <a:t>Integer</a:t>
                      </a:r>
                    </a:p>
                  </a:txBody>
                  <a:tcPr marL="16105" marR="16105" marT="8052" marB="8052"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AFAFA"/>
                    </a:solidFill>
                  </a:tcPr>
                </a:tc>
                <a:tc>
                  <a:txBody>
                    <a:bodyPr/>
                    <a:lstStyle/>
                    <a:p>
                      <a:pPr fontAlgn="ctr">
                        <a:buNone/>
                      </a:pPr>
                      <a:r>
                        <a:rPr lang="en-US" sz="1100">
                          <a:solidFill>
                            <a:srgbClr val="000000"/>
                          </a:solidFill>
                          <a:effectLst/>
                        </a:rPr>
                        <a:t>Age</a:t>
                      </a:r>
                    </a:p>
                  </a:txBody>
                  <a:tcPr marL="16105" marR="16105" marT="8052" marB="8052"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AFAFA"/>
                    </a:solidFill>
                  </a:tcPr>
                </a:tc>
                <a:tc>
                  <a:txBody>
                    <a:bodyPr/>
                    <a:lstStyle/>
                    <a:p>
                      <a:pPr fontAlgn="ctr">
                        <a:buNone/>
                      </a:pPr>
                      <a:r>
                        <a:rPr lang="en-US" sz="1100">
                          <a:solidFill>
                            <a:srgbClr val="000000"/>
                          </a:solidFill>
                          <a:effectLst/>
                        </a:rPr>
                        <a:t>Subject age</a:t>
                      </a:r>
                    </a:p>
                  </a:txBody>
                  <a:tcPr marL="16105" marR="16105" marT="8052" marB="8052"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AFAFA"/>
                    </a:solidFill>
                  </a:tcPr>
                </a:tc>
                <a:tc>
                  <a:txBody>
                    <a:bodyPr/>
                    <a:lstStyle/>
                    <a:p>
                      <a:pPr fontAlgn="ctr">
                        <a:buNone/>
                      </a:pPr>
                      <a:endParaRPr lang="en-US" sz="1100">
                        <a:effectLst/>
                      </a:endParaRPr>
                    </a:p>
                  </a:txBody>
                  <a:tcPr marL="16105" marR="16105" marT="8052" marB="8052"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AFAFA"/>
                    </a:solidFill>
                  </a:tcPr>
                </a:tc>
                <a:tc>
                  <a:txBody>
                    <a:bodyPr/>
                    <a:lstStyle/>
                    <a:p>
                      <a:pPr fontAlgn="ctr">
                        <a:buNone/>
                      </a:pPr>
                      <a:r>
                        <a:rPr lang="en-US" sz="1100">
                          <a:solidFill>
                            <a:srgbClr val="000000"/>
                          </a:solidFill>
                          <a:effectLst/>
                        </a:rPr>
                        <a:t>no</a:t>
                      </a:r>
                    </a:p>
                  </a:txBody>
                  <a:tcPr marL="16105" marR="16105" marT="8052" marB="8052"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AFAFA"/>
                    </a:solidFill>
                  </a:tcPr>
                </a:tc>
                <a:extLst>
                  <a:ext uri="{0D108BD9-81ED-4DB2-BD59-A6C34878D82A}">
                    <a16:rowId xmlns:a16="http://schemas.microsoft.com/office/drawing/2014/main" val="1244411647"/>
                  </a:ext>
                </a:extLst>
              </a:tr>
              <a:tr h="616104">
                <a:tc>
                  <a:txBody>
                    <a:bodyPr/>
                    <a:lstStyle/>
                    <a:p>
                      <a:pPr fontAlgn="ctr">
                        <a:buNone/>
                      </a:pPr>
                      <a:r>
                        <a:rPr lang="en-US" sz="1100">
                          <a:solidFill>
                            <a:srgbClr val="000000"/>
                          </a:solidFill>
                          <a:effectLst/>
                        </a:rPr>
                        <a:t>test_time</a:t>
                      </a:r>
                    </a:p>
                  </a:txBody>
                  <a:tcPr marL="16105" marR="16105" marT="8052" marB="8052"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AFAFA"/>
                    </a:solidFill>
                  </a:tcPr>
                </a:tc>
                <a:tc>
                  <a:txBody>
                    <a:bodyPr/>
                    <a:lstStyle/>
                    <a:p>
                      <a:pPr fontAlgn="ctr">
                        <a:buNone/>
                      </a:pPr>
                      <a:r>
                        <a:rPr lang="en-US" sz="1100">
                          <a:solidFill>
                            <a:srgbClr val="000000"/>
                          </a:solidFill>
                          <a:effectLst/>
                        </a:rPr>
                        <a:t>Feature</a:t>
                      </a:r>
                    </a:p>
                  </a:txBody>
                  <a:tcPr marL="16105" marR="16105" marT="8052" marB="8052"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AFAFA"/>
                    </a:solidFill>
                  </a:tcPr>
                </a:tc>
                <a:tc>
                  <a:txBody>
                    <a:bodyPr/>
                    <a:lstStyle/>
                    <a:p>
                      <a:pPr fontAlgn="ctr">
                        <a:buNone/>
                      </a:pPr>
                      <a:r>
                        <a:rPr lang="en-US" sz="1100">
                          <a:solidFill>
                            <a:srgbClr val="000000"/>
                          </a:solidFill>
                          <a:effectLst/>
                        </a:rPr>
                        <a:t>Continuous</a:t>
                      </a:r>
                    </a:p>
                  </a:txBody>
                  <a:tcPr marL="16105" marR="16105" marT="8052" marB="8052"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AFAFA"/>
                    </a:solidFill>
                  </a:tcPr>
                </a:tc>
                <a:tc>
                  <a:txBody>
                    <a:bodyPr/>
                    <a:lstStyle/>
                    <a:p>
                      <a:pPr fontAlgn="ctr">
                        <a:buNone/>
                      </a:pPr>
                      <a:endParaRPr lang="en-US" sz="1100">
                        <a:effectLst/>
                      </a:endParaRPr>
                    </a:p>
                  </a:txBody>
                  <a:tcPr marL="16105" marR="16105" marT="8052" marB="8052"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AFAFA"/>
                    </a:solidFill>
                  </a:tcPr>
                </a:tc>
                <a:tc>
                  <a:txBody>
                    <a:bodyPr/>
                    <a:lstStyle/>
                    <a:p>
                      <a:pPr fontAlgn="ctr">
                        <a:buNone/>
                      </a:pPr>
                      <a:r>
                        <a:rPr lang="en-US" sz="1100">
                          <a:solidFill>
                            <a:srgbClr val="000000"/>
                          </a:solidFill>
                          <a:effectLst/>
                        </a:rPr>
                        <a:t>Time since recruitment into the trial. The integer part is the number of days since recruitment.</a:t>
                      </a:r>
                    </a:p>
                  </a:txBody>
                  <a:tcPr marL="16105" marR="16105" marT="8052" marB="8052"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AFAFA"/>
                    </a:solidFill>
                  </a:tcPr>
                </a:tc>
                <a:tc>
                  <a:txBody>
                    <a:bodyPr/>
                    <a:lstStyle/>
                    <a:p>
                      <a:pPr fontAlgn="ctr">
                        <a:buNone/>
                      </a:pPr>
                      <a:endParaRPr lang="en-US" sz="1100">
                        <a:effectLst/>
                      </a:endParaRPr>
                    </a:p>
                  </a:txBody>
                  <a:tcPr marL="16105" marR="16105" marT="8052" marB="8052"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AFAFA"/>
                    </a:solidFill>
                  </a:tcPr>
                </a:tc>
                <a:tc>
                  <a:txBody>
                    <a:bodyPr/>
                    <a:lstStyle/>
                    <a:p>
                      <a:pPr fontAlgn="ctr">
                        <a:buNone/>
                      </a:pPr>
                      <a:r>
                        <a:rPr lang="en-US" sz="1100">
                          <a:solidFill>
                            <a:srgbClr val="000000"/>
                          </a:solidFill>
                          <a:effectLst/>
                        </a:rPr>
                        <a:t>no</a:t>
                      </a:r>
                    </a:p>
                  </a:txBody>
                  <a:tcPr marL="16105" marR="16105" marT="8052" marB="8052"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AFAFA"/>
                    </a:solidFill>
                  </a:tcPr>
                </a:tc>
                <a:extLst>
                  <a:ext uri="{0D108BD9-81ED-4DB2-BD59-A6C34878D82A}">
                    <a16:rowId xmlns:a16="http://schemas.microsoft.com/office/drawing/2014/main" val="1760169034"/>
                  </a:ext>
                </a:extLst>
              </a:tr>
              <a:tr h="431574">
                <a:tc>
                  <a:txBody>
                    <a:bodyPr/>
                    <a:lstStyle/>
                    <a:p>
                      <a:pPr fontAlgn="ctr">
                        <a:buNone/>
                      </a:pPr>
                      <a:r>
                        <a:rPr lang="en-US" sz="1100">
                          <a:solidFill>
                            <a:srgbClr val="000000"/>
                          </a:solidFill>
                          <a:effectLst/>
                        </a:rPr>
                        <a:t>Jitter(%)</a:t>
                      </a:r>
                    </a:p>
                  </a:txBody>
                  <a:tcPr marL="16105" marR="16105" marT="8052" marB="8052"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AFAFA"/>
                    </a:solidFill>
                  </a:tcPr>
                </a:tc>
                <a:tc>
                  <a:txBody>
                    <a:bodyPr/>
                    <a:lstStyle/>
                    <a:p>
                      <a:pPr fontAlgn="ctr">
                        <a:buNone/>
                      </a:pPr>
                      <a:r>
                        <a:rPr lang="en-US" sz="1100">
                          <a:solidFill>
                            <a:srgbClr val="000000"/>
                          </a:solidFill>
                          <a:effectLst/>
                        </a:rPr>
                        <a:t>Feature</a:t>
                      </a:r>
                    </a:p>
                  </a:txBody>
                  <a:tcPr marL="16105" marR="16105" marT="8052" marB="8052"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AFAFA"/>
                    </a:solidFill>
                  </a:tcPr>
                </a:tc>
                <a:tc>
                  <a:txBody>
                    <a:bodyPr/>
                    <a:lstStyle/>
                    <a:p>
                      <a:pPr fontAlgn="ctr">
                        <a:buNone/>
                      </a:pPr>
                      <a:r>
                        <a:rPr lang="en-US" sz="1100">
                          <a:solidFill>
                            <a:srgbClr val="000000"/>
                          </a:solidFill>
                          <a:effectLst/>
                        </a:rPr>
                        <a:t>Continuous</a:t>
                      </a:r>
                    </a:p>
                  </a:txBody>
                  <a:tcPr marL="16105" marR="16105" marT="8052" marB="8052"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AFAFA"/>
                    </a:solidFill>
                  </a:tcPr>
                </a:tc>
                <a:tc>
                  <a:txBody>
                    <a:bodyPr/>
                    <a:lstStyle/>
                    <a:p>
                      <a:pPr fontAlgn="ctr">
                        <a:buNone/>
                      </a:pPr>
                      <a:endParaRPr lang="en-US" sz="1100">
                        <a:effectLst/>
                      </a:endParaRPr>
                    </a:p>
                  </a:txBody>
                  <a:tcPr marL="16105" marR="16105" marT="8052" marB="8052"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AFAFA"/>
                    </a:solidFill>
                  </a:tcPr>
                </a:tc>
                <a:tc>
                  <a:txBody>
                    <a:bodyPr/>
                    <a:lstStyle/>
                    <a:p>
                      <a:pPr fontAlgn="ctr">
                        <a:buNone/>
                      </a:pPr>
                      <a:r>
                        <a:rPr lang="en-US" sz="1100">
                          <a:solidFill>
                            <a:srgbClr val="000000"/>
                          </a:solidFill>
                          <a:effectLst/>
                        </a:rPr>
                        <a:t>Several measures of variation in fundamental frequency</a:t>
                      </a:r>
                    </a:p>
                  </a:txBody>
                  <a:tcPr marL="16105" marR="16105" marT="8052" marB="8052"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AFAFA"/>
                    </a:solidFill>
                  </a:tcPr>
                </a:tc>
                <a:tc>
                  <a:txBody>
                    <a:bodyPr/>
                    <a:lstStyle/>
                    <a:p>
                      <a:pPr fontAlgn="ctr">
                        <a:buNone/>
                      </a:pPr>
                      <a:endParaRPr lang="en-US" sz="1100">
                        <a:effectLst/>
                      </a:endParaRPr>
                    </a:p>
                  </a:txBody>
                  <a:tcPr marL="16105" marR="16105" marT="8052" marB="8052"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AFAFA"/>
                    </a:solidFill>
                  </a:tcPr>
                </a:tc>
                <a:tc>
                  <a:txBody>
                    <a:bodyPr/>
                    <a:lstStyle/>
                    <a:p>
                      <a:pPr fontAlgn="ctr">
                        <a:buNone/>
                      </a:pPr>
                      <a:r>
                        <a:rPr lang="en-US" sz="1100">
                          <a:solidFill>
                            <a:srgbClr val="000000"/>
                          </a:solidFill>
                          <a:effectLst/>
                        </a:rPr>
                        <a:t>no</a:t>
                      </a:r>
                    </a:p>
                  </a:txBody>
                  <a:tcPr marL="16105" marR="16105" marT="8052" marB="8052"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AFAFA"/>
                    </a:solidFill>
                  </a:tcPr>
                </a:tc>
                <a:extLst>
                  <a:ext uri="{0D108BD9-81ED-4DB2-BD59-A6C34878D82A}">
                    <a16:rowId xmlns:a16="http://schemas.microsoft.com/office/drawing/2014/main" val="890201659"/>
                  </a:ext>
                </a:extLst>
              </a:tr>
              <a:tr h="431574">
                <a:tc>
                  <a:txBody>
                    <a:bodyPr/>
                    <a:lstStyle/>
                    <a:p>
                      <a:pPr fontAlgn="ctr">
                        <a:buNone/>
                      </a:pPr>
                      <a:r>
                        <a:rPr lang="en-US" sz="1100">
                          <a:solidFill>
                            <a:srgbClr val="000000"/>
                          </a:solidFill>
                          <a:effectLst/>
                        </a:rPr>
                        <a:t>Jitter(Abs)</a:t>
                      </a:r>
                    </a:p>
                  </a:txBody>
                  <a:tcPr marL="16105" marR="16105" marT="8052" marB="8052"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AFAFA"/>
                    </a:solidFill>
                  </a:tcPr>
                </a:tc>
                <a:tc>
                  <a:txBody>
                    <a:bodyPr/>
                    <a:lstStyle/>
                    <a:p>
                      <a:pPr fontAlgn="ctr">
                        <a:buNone/>
                      </a:pPr>
                      <a:r>
                        <a:rPr lang="en-US" sz="1100">
                          <a:solidFill>
                            <a:srgbClr val="000000"/>
                          </a:solidFill>
                          <a:effectLst/>
                        </a:rPr>
                        <a:t>Feature</a:t>
                      </a:r>
                    </a:p>
                  </a:txBody>
                  <a:tcPr marL="16105" marR="16105" marT="8052" marB="8052"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AFAFA"/>
                    </a:solidFill>
                  </a:tcPr>
                </a:tc>
                <a:tc>
                  <a:txBody>
                    <a:bodyPr/>
                    <a:lstStyle/>
                    <a:p>
                      <a:pPr fontAlgn="ctr">
                        <a:buNone/>
                      </a:pPr>
                      <a:r>
                        <a:rPr lang="en-US" sz="1100">
                          <a:solidFill>
                            <a:srgbClr val="000000"/>
                          </a:solidFill>
                          <a:effectLst/>
                        </a:rPr>
                        <a:t>Continuous</a:t>
                      </a:r>
                    </a:p>
                  </a:txBody>
                  <a:tcPr marL="16105" marR="16105" marT="8052" marB="8052"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AFAFA"/>
                    </a:solidFill>
                  </a:tcPr>
                </a:tc>
                <a:tc>
                  <a:txBody>
                    <a:bodyPr/>
                    <a:lstStyle/>
                    <a:p>
                      <a:pPr fontAlgn="ctr">
                        <a:buNone/>
                      </a:pPr>
                      <a:endParaRPr lang="en-US" sz="1100">
                        <a:effectLst/>
                      </a:endParaRPr>
                    </a:p>
                  </a:txBody>
                  <a:tcPr marL="16105" marR="16105" marT="8052" marB="8052"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AFAFA"/>
                    </a:solidFill>
                  </a:tcPr>
                </a:tc>
                <a:tc>
                  <a:txBody>
                    <a:bodyPr/>
                    <a:lstStyle/>
                    <a:p>
                      <a:pPr fontAlgn="ctr">
                        <a:buNone/>
                      </a:pPr>
                      <a:r>
                        <a:rPr lang="en-US" sz="1100">
                          <a:solidFill>
                            <a:srgbClr val="000000"/>
                          </a:solidFill>
                          <a:effectLst/>
                        </a:rPr>
                        <a:t>Several measures of variation in fundamental frequency</a:t>
                      </a:r>
                    </a:p>
                  </a:txBody>
                  <a:tcPr marL="16105" marR="16105" marT="8052" marB="8052"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AFAFA"/>
                    </a:solidFill>
                  </a:tcPr>
                </a:tc>
                <a:tc>
                  <a:txBody>
                    <a:bodyPr/>
                    <a:lstStyle/>
                    <a:p>
                      <a:pPr fontAlgn="ctr">
                        <a:buNone/>
                      </a:pPr>
                      <a:endParaRPr lang="en-US" sz="1100">
                        <a:effectLst/>
                      </a:endParaRPr>
                    </a:p>
                  </a:txBody>
                  <a:tcPr marL="16105" marR="16105" marT="8052" marB="8052"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AFAFA"/>
                    </a:solidFill>
                  </a:tcPr>
                </a:tc>
                <a:tc>
                  <a:txBody>
                    <a:bodyPr/>
                    <a:lstStyle/>
                    <a:p>
                      <a:pPr fontAlgn="ctr">
                        <a:buNone/>
                      </a:pPr>
                      <a:r>
                        <a:rPr lang="en-US" sz="1100">
                          <a:solidFill>
                            <a:srgbClr val="000000"/>
                          </a:solidFill>
                          <a:effectLst/>
                        </a:rPr>
                        <a:t>no</a:t>
                      </a:r>
                    </a:p>
                  </a:txBody>
                  <a:tcPr marL="16105" marR="16105" marT="8052" marB="8052"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AFAFA"/>
                    </a:solidFill>
                  </a:tcPr>
                </a:tc>
                <a:extLst>
                  <a:ext uri="{0D108BD9-81ED-4DB2-BD59-A6C34878D82A}">
                    <a16:rowId xmlns:a16="http://schemas.microsoft.com/office/drawing/2014/main" val="2615697202"/>
                  </a:ext>
                </a:extLst>
              </a:tr>
              <a:tr h="431574">
                <a:tc>
                  <a:txBody>
                    <a:bodyPr/>
                    <a:lstStyle/>
                    <a:p>
                      <a:pPr fontAlgn="ctr">
                        <a:buNone/>
                      </a:pPr>
                      <a:r>
                        <a:rPr lang="en-US" sz="1100">
                          <a:solidFill>
                            <a:srgbClr val="000000"/>
                          </a:solidFill>
                          <a:effectLst/>
                        </a:rPr>
                        <a:t>Jitter:RAP</a:t>
                      </a:r>
                    </a:p>
                  </a:txBody>
                  <a:tcPr marL="16105" marR="16105" marT="8052" marB="8052"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AFAFA"/>
                    </a:solidFill>
                  </a:tcPr>
                </a:tc>
                <a:tc>
                  <a:txBody>
                    <a:bodyPr/>
                    <a:lstStyle/>
                    <a:p>
                      <a:pPr fontAlgn="ctr">
                        <a:buNone/>
                      </a:pPr>
                      <a:r>
                        <a:rPr lang="en-US" sz="1100">
                          <a:solidFill>
                            <a:srgbClr val="000000"/>
                          </a:solidFill>
                          <a:effectLst/>
                        </a:rPr>
                        <a:t>Feature</a:t>
                      </a:r>
                    </a:p>
                  </a:txBody>
                  <a:tcPr marL="16105" marR="16105" marT="8052" marB="8052"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AFAFA"/>
                    </a:solidFill>
                  </a:tcPr>
                </a:tc>
                <a:tc>
                  <a:txBody>
                    <a:bodyPr/>
                    <a:lstStyle/>
                    <a:p>
                      <a:pPr fontAlgn="ctr">
                        <a:buNone/>
                      </a:pPr>
                      <a:r>
                        <a:rPr lang="en-US" sz="1100">
                          <a:solidFill>
                            <a:srgbClr val="000000"/>
                          </a:solidFill>
                          <a:effectLst/>
                        </a:rPr>
                        <a:t>Continuous</a:t>
                      </a:r>
                    </a:p>
                  </a:txBody>
                  <a:tcPr marL="16105" marR="16105" marT="8052" marB="8052"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AFAFA"/>
                    </a:solidFill>
                  </a:tcPr>
                </a:tc>
                <a:tc>
                  <a:txBody>
                    <a:bodyPr/>
                    <a:lstStyle/>
                    <a:p>
                      <a:pPr fontAlgn="ctr">
                        <a:buNone/>
                      </a:pPr>
                      <a:endParaRPr lang="en-US" sz="1100">
                        <a:effectLst/>
                      </a:endParaRPr>
                    </a:p>
                  </a:txBody>
                  <a:tcPr marL="16105" marR="16105" marT="8052" marB="8052"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AFAFA"/>
                    </a:solidFill>
                  </a:tcPr>
                </a:tc>
                <a:tc>
                  <a:txBody>
                    <a:bodyPr/>
                    <a:lstStyle/>
                    <a:p>
                      <a:pPr fontAlgn="ctr">
                        <a:buNone/>
                      </a:pPr>
                      <a:r>
                        <a:rPr lang="en-US" sz="1100">
                          <a:solidFill>
                            <a:srgbClr val="000000"/>
                          </a:solidFill>
                          <a:effectLst/>
                        </a:rPr>
                        <a:t>Several measures of variation in fundamental frequency</a:t>
                      </a:r>
                    </a:p>
                  </a:txBody>
                  <a:tcPr marL="16105" marR="16105" marT="8052" marB="8052"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AFAFA"/>
                    </a:solidFill>
                  </a:tcPr>
                </a:tc>
                <a:tc>
                  <a:txBody>
                    <a:bodyPr/>
                    <a:lstStyle/>
                    <a:p>
                      <a:pPr fontAlgn="ctr">
                        <a:buNone/>
                      </a:pPr>
                      <a:endParaRPr lang="en-US" sz="1100">
                        <a:effectLst/>
                      </a:endParaRPr>
                    </a:p>
                  </a:txBody>
                  <a:tcPr marL="16105" marR="16105" marT="8052" marB="8052"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AFAFA"/>
                    </a:solidFill>
                  </a:tcPr>
                </a:tc>
                <a:tc>
                  <a:txBody>
                    <a:bodyPr/>
                    <a:lstStyle/>
                    <a:p>
                      <a:pPr fontAlgn="ctr">
                        <a:buNone/>
                      </a:pPr>
                      <a:r>
                        <a:rPr lang="en-US" sz="1100">
                          <a:solidFill>
                            <a:srgbClr val="000000"/>
                          </a:solidFill>
                          <a:effectLst/>
                        </a:rPr>
                        <a:t>no</a:t>
                      </a:r>
                    </a:p>
                  </a:txBody>
                  <a:tcPr marL="16105" marR="16105" marT="8052" marB="8052"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AFAFA"/>
                    </a:solidFill>
                  </a:tcPr>
                </a:tc>
                <a:extLst>
                  <a:ext uri="{0D108BD9-81ED-4DB2-BD59-A6C34878D82A}">
                    <a16:rowId xmlns:a16="http://schemas.microsoft.com/office/drawing/2014/main" val="3562653760"/>
                  </a:ext>
                </a:extLst>
              </a:tr>
              <a:tr h="431574">
                <a:tc>
                  <a:txBody>
                    <a:bodyPr/>
                    <a:lstStyle/>
                    <a:p>
                      <a:pPr fontAlgn="ctr">
                        <a:buNone/>
                      </a:pPr>
                      <a:r>
                        <a:rPr lang="en-US" sz="1100">
                          <a:solidFill>
                            <a:srgbClr val="000000"/>
                          </a:solidFill>
                          <a:effectLst/>
                        </a:rPr>
                        <a:t>Jitter:PPQ5</a:t>
                      </a:r>
                    </a:p>
                  </a:txBody>
                  <a:tcPr marL="16105" marR="16105" marT="8052" marB="8052"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AFAFA"/>
                    </a:solidFill>
                  </a:tcPr>
                </a:tc>
                <a:tc>
                  <a:txBody>
                    <a:bodyPr/>
                    <a:lstStyle/>
                    <a:p>
                      <a:pPr fontAlgn="ctr">
                        <a:buNone/>
                      </a:pPr>
                      <a:r>
                        <a:rPr lang="en-US" sz="1100">
                          <a:solidFill>
                            <a:srgbClr val="000000"/>
                          </a:solidFill>
                          <a:effectLst/>
                        </a:rPr>
                        <a:t>Feature</a:t>
                      </a:r>
                    </a:p>
                  </a:txBody>
                  <a:tcPr marL="16105" marR="16105" marT="8052" marB="8052"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AFAFA"/>
                    </a:solidFill>
                  </a:tcPr>
                </a:tc>
                <a:tc>
                  <a:txBody>
                    <a:bodyPr/>
                    <a:lstStyle/>
                    <a:p>
                      <a:pPr fontAlgn="ctr">
                        <a:buNone/>
                      </a:pPr>
                      <a:r>
                        <a:rPr lang="en-US" sz="1100">
                          <a:solidFill>
                            <a:srgbClr val="000000"/>
                          </a:solidFill>
                          <a:effectLst/>
                        </a:rPr>
                        <a:t>Continuous</a:t>
                      </a:r>
                    </a:p>
                  </a:txBody>
                  <a:tcPr marL="16105" marR="16105" marT="8052" marB="8052"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AFAFA"/>
                    </a:solidFill>
                  </a:tcPr>
                </a:tc>
                <a:tc>
                  <a:txBody>
                    <a:bodyPr/>
                    <a:lstStyle/>
                    <a:p>
                      <a:pPr fontAlgn="ctr">
                        <a:buNone/>
                      </a:pPr>
                      <a:endParaRPr lang="en-US" sz="1100">
                        <a:effectLst/>
                      </a:endParaRPr>
                    </a:p>
                  </a:txBody>
                  <a:tcPr marL="16105" marR="16105" marT="8052" marB="8052"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AFAFA"/>
                    </a:solidFill>
                  </a:tcPr>
                </a:tc>
                <a:tc>
                  <a:txBody>
                    <a:bodyPr/>
                    <a:lstStyle/>
                    <a:p>
                      <a:pPr fontAlgn="ctr">
                        <a:buNone/>
                      </a:pPr>
                      <a:r>
                        <a:rPr lang="en-US" sz="1100">
                          <a:solidFill>
                            <a:srgbClr val="000000"/>
                          </a:solidFill>
                          <a:effectLst/>
                        </a:rPr>
                        <a:t>Several measures of variation in fundamental frequency</a:t>
                      </a:r>
                    </a:p>
                  </a:txBody>
                  <a:tcPr marL="16105" marR="16105" marT="8052" marB="8052"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AFAFA"/>
                    </a:solidFill>
                  </a:tcPr>
                </a:tc>
                <a:tc>
                  <a:txBody>
                    <a:bodyPr/>
                    <a:lstStyle/>
                    <a:p>
                      <a:pPr fontAlgn="ctr">
                        <a:buNone/>
                      </a:pPr>
                      <a:endParaRPr lang="en-US" sz="1100">
                        <a:effectLst/>
                      </a:endParaRPr>
                    </a:p>
                  </a:txBody>
                  <a:tcPr marL="16105" marR="16105" marT="8052" marB="8052"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AFAFA"/>
                    </a:solidFill>
                  </a:tcPr>
                </a:tc>
                <a:tc>
                  <a:txBody>
                    <a:bodyPr/>
                    <a:lstStyle/>
                    <a:p>
                      <a:pPr fontAlgn="ctr">
                        <a:buNone/>
                      </a:pPr>
                      <a:r>
                        <a:rPr lang="en-US" sz="1100">
                          <a:solidFill>
                            <a:srgbClr val="000000"/>
                          </a:solidFill>
                          <a:effectLst/>
                        </a:rPr>
                        <a:t>no</a:t>
                      </a:r>
                    </a:p>
                  </a:txBody>
                  <a:tcPr marL="16105" marR="16105" marT="8052" marB="8052"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AFAFA"/>
                    </a:solidFill>
                  </a:tcPr>
                </a:tc>
                <a:extLst>
                  <a:ext uri="{0D108BD9-81ED-4DB2-BD59-A6C34878D82A}">
                    <a16:rowId xmlns:a16="http://schemas.microsoft.com/office/drawing/2014/main" val="806975843"/>
                  </a:ext>
                </a:extLst>
              </a:tr>
              <a:tr h="431574">
                <a:tc>
                  <a:txBody>
                    <a:bodyPr/>
                    <a:lstStyle/>
                    <a:p>
                      <a:pPr fontAlgn="ctr">
                        <a:buNone/>
                      </a:pPr>
                      <a:r>
                        <a:rPr lang="en-US" sz="1100">
                          <a:solidFill>
                            <a:srgbClr val="000000"/>
                          </a:solidFill>
                          <a:effectLst/>
                        </a:rPr>
                        <a:t>Jitter:DDP</a:t>
                      </a:r>
                    </a:p>
                  </a:txBody>
                  <a:tcPr marL="16105" marR="16105" marT="8052" marB="8052"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AFAFA"/>
                    </a:solidFill>
                  </a:tcPr>
                </a:tc>
                <a:tc>
                  <a:txBody>
                    <a:bodyPr/>
                    <a:lstStyle/>
                    <a:p>
                      <a:pPr fontAlgn="ctr">
                        <a:buNone/>
                      </a:pPr>
                      <a:r>
                        <a:rPr lang="en-US" sz="1100">
                          <a:solidFill>
                            <a:srgbClr val="000000"/>
                          </a:solidFill>
                          <a:effectLst/>
                        </a:rPr>
                        <a:t>Feature</a:t>
                      </a:r>
                    </a:p>
                  </a:txBody>
                  <a:tcPr marL="16105" marR="16105" marT="8052" marB="8052"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AFAFA"/>
                    </a:solidFill>
                  </a:tcPr>
                </a:tc>
                <a:tc>
                  <a:txBody>
                    <a:bodyPr/>
                    <a:lstStyle/>
                    <a:p>
                      <a:pPr fontAlgn="ctr">
                        <a:buNone/>
                      </a:pPr>
                      <a:r>
                        <a:rPr lang="en-US" sz="1100">
                          <a:solidFill>
                            <a:srgbClr val="000000"/>
                          </a:solidFill>
                          <a:effectLst/>
                        </a:rPr>
                        <a:t>Continuous</a:t>
                      </a:r>
                    </a:p>
                  </a:txBody>
                  <a:tcPr marL="16105" marR="16105" marT="8052" marB="8052"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AFAFA"/>
                    </a:solidFill>
                  </a:tcPr>
                </a:tc>
                <a:tc>
                  <a:txBody>
                    <a:bodyPr/>
                    <a:lstStyle/>
                    <a:p>
                      <a:pPr fontAlgn="ctr">
                        <a:buNone/>
                      </a:pPr>
                      <a:endParaRPr lang="en-US" sz="1100">
                        <a:effectLst/>
                      </a:endParaRPr>
                    </a:p>
                  </a:txBody>
                  <a:tcPr marL="16105" marR="16105" marT="8052" marB="8052"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AFAFA"/>
                    </a:solidFill>
                  </a:tcPr>
                </a:tc>
                <a:tc>
                  <a:txBody>
                    <a:bodyPr/>
                    <a:lstStyle/>
                    <a:p>
                      <a:pPr fontAlgn="ctr">
                        <a:buNone/>
                      </a:pPr>
                      <a:r>
                        <a:rPr lang="en-US" sz="1100">
                          <a:solidFill>
                            <a:srgbClr val="000000"/>
                          </a:solidFill>
                          <a:effectLst/>
                        </a:rPr>
                        <a:t>Several measures of variation in fundamental frequency</a:t>
                      </a:r>
                    </a:p>
                  </a:txBody>
                  <a:tcPr marL="16105" marR="16105" marT="8052" marB="8052"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AFAFA"/>
                    </a:solidFill>
                  </a:tcPr>
                </a:tc>
                <a:tc>
                  <a:txBody>
                    <a:bodyPr/>
                    <a:lstStyle/>
                    <a:p>
                      <a:pPr fontAlgn="ctr">
                        <a:buNone/>
                      </a:pPr>
                      <a:endParaRPr lang="en-US" sz="1100">
                        <a:effectLst/>
                      </a:endParaRPr>
                    </a:p>
                  </a:txBody>
                  <a:tcPr marL="16105" marR="16105" marT="8052" marB="8052"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AFAFA"/>
                    </a:solidFill>
                  </a:tcPr>
                </a:tc>
                <a:tc>
                  <a:txBody>
                    <a:bodyPr/>
                    <a:lstStyle/>
                    <a:p>
                      <a:pPr fontAlgn="ctr">
                        <a:buNone/>
                      </a:pPr>
                      <a:r>
                        <a:rPr lang="en-US" sz="1100">
                          <a:solidFill>
                            <a:srgbClr val="000000"/>
                          </a:solidFill>
                          <a:effectLst/>
                        </a:rPr>
                        <a:t>no</a:t>
                      </a:r>
                    </a:p>
                  </a:txBody>
                  <a:tcPr marL="16105" marR="16105" marT="8052" marB="8052"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AFAFA"/>
                    </a:solidFill>
                  </a:tcPr>
                </a:tc>
                <a:extLst>
                  <a:ext uri="{0D108BD9-81ED-4DB2-BD59-A6C34878D82A}">
                    <a16:rowId xmlns:a16="http://schemas.microsoft.com/office/drawing/2014/main" val="1885182486"/>
                  </a:ext>
                </a:extLst>
              </a:tr>
              <a:tr h="247044">
                <a:tc>
                  <a:txBody>
                    <a:bodyPr/>
                    <a:lstStyle/>
                    <a:p>
                      <a:pPr fontAlgn="ctr">
                        <a:buNone/>
                      </a:pPr>
                      <a:r>
                        <a:rPr lang="en-US" sz="1100">
                          <a:solidFill>
                            <a:srgbClr val="000000"/>
                          </a:solidFill>
                          <a:effectLst/>
                        </a:rPr>
                        <a:t>Shimmer</a:t>
                      </a:r>
                    </a:p>
                  </a:txBody>
                  <a:tcPr marL="16105" marR="16105" marT="8052" marB="8052"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AFAFA"/>
                    </a:solidFill>
                  </a:tcPr>
                </a:tc>
                <a:tc>
                  <a:txBody>
                    <a:bodyPr/>
                    <a:lstStyle/>
                    <a:p>
                      <a:pPr fontAlgn="ctr">
                        <a:buNone/>
                      </a:pPr>
                      <a:r>
                        <a:rPr lang="en-US" sz="1100">
                          <a:solidFill>
                            <a:srgbClr val="000000"/>
                          </a:solidFill>
                          <a:effectLst/>
                        </a:rPr>
                        <a:t>Feature</a:t>
                      </a:r>
                    </a:p>
                  </a:txBody>
                  <a:tcPr marL="16105" marR="16105" marT="8052" marB="8052"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AFAFA"/>
                    </a:solidFill>
                  </a:tcPr>
                </a:tc>
                <a:tc>
                  <a:txBody>
                    <a:bodyPr/>
                    <a:lstStyle/>
                    <a:p>
                      <a:pPr fontAlgn="ctr">
                        <a:buNone/>
                      </a:pPr>
                      <a:r>
                        <a:rPr lang="en-US" sz="1100">
                          <a:solidFill>
                            <a:srgbClr val="000000"/>
                          </a:solidFill>
                          <a:effectLst/>
                        </a:rPr>
                        <a:t>Continuous</a:t>
                      </a:r>
                    </a:p>
                  </a:txBody>
                  <a:tcPr marL="16105" marR="16105" marT="8052" marB="8052"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AFAFA"/>
                    </a:solidFill>
                  </a:tcPr>
                </a:tc>
                <a:tc>
                  <a:txBody>
                    <a:bodyPr/>
                    <a:lstStyle/>
                    <a:p>
                      <a:pPr fontAlgn="ctr">
                        <a:buNone/>
                      </a:pPr>
                      <a:endParaRPr lang="en-US" sz="1100">
                        <a:effectLst/>
                      </a:endParaRPr>
                    </a:p>
                  </a:txBody>
                  <a:tcPr marL="16105" marR="16105" marT="8052" marB="8052"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AFAFA"/>
                    </a:solidFill>
                  </a:tcPr>
                </a:tc>
                <a:tc>
                  <a:txBody>
                    <a:bodyPr/>
                    <a:lstStyle/>
                    <a:p>
                      <a:pPr fontAlgn="ctr">
                        <a:buNone/>
                      </a:pPr>
                      <a:r>
                        <a:rPr lang="en-US" sz="1100">
                          <a:solidFill>
                            <a:srgbClr val="000000"/>
                          </a:solidFill>
                          <a:effectLst/>
                        </a:rPr>
                        <a:t>Several measures of variation in amplitude</a:t>
                      </a:r>
                    </a:p>
                  </a:txBody>
                  <a:tcPr marL="16105" marR="16105" marT="8052" marB="8052"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AFAFA"/>
                    </a:solidFill>
                  </a:tcPr>
                </a:tc>
                <a:tc>
                  <a:txBody>
                    <a:bodyPr/>
                    <a:lstStyle/>
                    <a:p>
                      <a:pPr fontAlgn="ctr">
                        <a:buNone/>
                      </a:pPr>
                      <a:endParaRPr lang="en-US" sz="1100">
                        <a:effectLst/>
                      </a:endParaRPr>
                    </a:p>
                  </a:txBody>
                  <a:tcPr marL="16105" marR="16105" marT="8052" marB="8052"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AFAFA"/>
                    </a:solidFill>
                  </a:tcPr>
                </a:tc>
                <a:tc>
                  <a:txBody>
                    <a:bodyPr/>
                    <a:lstStyle/>
                    <a:p>
                      <a:pPr fontAlgn="ctr">
                        <a:buNone/>
                      </a:pPr>
                      <a:r>
                        <a:rPr lang="en-US" sz="1100">
                          <a:solidFill>
                            <a:srgbClr val="000000"/>
                          </a:solidFill>
                          <a:effectLst/>
                        </a:rPr>
                        <a:t>no</a:t>
                      </a:r>
                    </a:p>
                  </a:txBody>
                  <a:tcPr marL="16105" marR="16105" marT="8052" marB="8052"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AFAFA"/>
                    </a:solidFill>
                  </a:tcPr>
                </a:tc>
                <a:extLst>
                  <a:ext uri="{0D108BD9-81ED-4DB2-BD59-A6C34878D82A}">
                    <a16:rowId xmlns:a16="http://schemas.microsoft.com/office/drawing/2014/main" val="3642822737"/>
                  </a:ext>
                </a:extLst>
              </a:tr>
              <a:tr h="247044">
                <a:tc>
                  <a:txBody>
                    <a:bodyPr/>
                    <a:lstStyle/>
                    <a:p>
                      <a:pPr fontAlgn="ctr">
                        <a:buNone/>
                      </a:pPr>
                      <a:r>
                        <a:rPr lang="en-US" sz="1100">
                          <a:solidFill>
                            <a:srgbClr val="000000"/>
                          </a:solidFill>
                          <a:effectLst/>
                        </a:rPr>
                        <a:t>Shimmer(dB)</a:t>
                      </a:r>
                    </a:p>
                  </a:txBody>
                  <a:tcPr marL="16105" marR="16105" marT="8052" marB="8052"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AFAFA"/>
                    </a:solidFill>
                  </a:tcPr>
                </a:tc>
                <a:tc>
                  <a:txBody>
                    <a:bodyPr/>
                    <a:lstStyle/>
                    <a:p>
                      <a:pPr fontAlgn="ctr">
                        <a:buNone/>
                      </a:pPr>
                      <a:r>
                        <a:rPr lang="en-US" sz="1100">
                          <a:solidFill>
                            <a:srgbClr val="000000"/>
                          </a:solidFill>
                          <a:effectLst/>
                        </a:rPr>
                        <a:t>Feature</a:t>
                      </a:r>
                    </a:p>
                  </a:txBody>
                  <a:tcPr marL="16105" marR="16105" marT="8052" marB="8052"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AFAFA"/>
                    </a:solidFill>
                  </a:tcPr>
                </a:tc>
                <a:tc>
                  <a:txBody>
                    <a:bodyPr/>
                    <a:lstStyle/>
                    <a:p>
                      <a:pPr fontAlgn="ctr">
                        <a:buNone/>
                      </a:pPr>
                      <a:r>
                        <a:rPr lang="en-US" sz="1100">
                          <a:solidFill>
                            <a:srgbClr val="000000"/>
                          </a:solidFill>
                          <a:effectLst/>
                        </a:rPr>
                        <a:t>Continuous</a:t>
                      </a:r>
                    </a:p>
                  </a:txBody>
                  <a:tcPr marL="16105" marR="16105" marT="8052" marB="8052"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AFAFA"/>
                    </a:solidFill>
                  </a:tcPr>
                </a:tc>
                <a:tc>
                  <a:txBody>
                    <a:bodyPr/>
                    <a:lstStyle/>
                    <a:p>
                      <a:pPr fontAlgn="ctr">
                        <a:buNone/>
                      </a:pPr>
                      <a:endParaRPr lang="en-US" sz="1100">
                        <a:effectLst/>
                      </a:endParaRPr>
                    </a:p>
                  </a:txBody>
                  <a:tcPr marL="16105" marR="16105" marT="8052" marB="8052"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AFAFA"/>
                    </a:solidFill>
                  </a:tcPr>
                </a:tc>
                <a:tc>
                  <a:txBody>
                    <a:bodyPr/>
                    <a:lstStyle/>
                    <a:p>
                      <a:pPr fontAlgn="ctr">
                        <a:buNone/>
                      </a:pPr>
                      <a:r>
                        <a:rPr lang="en-US" sz="1100">
                          <a:solidFill>
                            <a:srgbClr val="000000"/>
                          </a:solidFill>
                          <a:effectLst/>
                        </a:rPr>
                        <a:t>Several measures of variation in amplitude</a:t>
                      </a:r>
                    </a:p>
                  </a:txBody>
                  <a:tcPr marL="16105" marR="16105" marT="8052" marB="8052"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AFAFA"/>
                    </a:solidFill>
                  </a:tcPr>
                </a:tc>
                <a:tc>
                  <a:txBody>
                    <a:bodyPr/>
                    <a:lstStyle/>
                    <a:p>
                      <a:pPr fontAlgn="ctr">
                        <a:buNone/>
                      </a:pPr>
                      <a:endParaRPr lang="en-US" sz="1100">
                        <a:effectLst/>
                      </a:endParaRPr>
                    </a:p>
                  </a:txBody>
                  <a:tcPr marL="16105" marR="16105" marT="8052" marB="8052"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AFAFA"/>
                    </a:solidFill>
                  </a:tcPr>
                </a:tc>
                <a:tc>
                  <a:txBody>
                    <a:bodyPr/>
                    <a:lstStyle/>
                    <a:p>
                      <a:pPr fontAlgn="ctr">
                        <a:buNone/>
                      </a:pPr>
                      <a:r>
                        <a:rPr lang="en-US" sz="1100" dirty="0">
                          <a:solidFill>
                            <a:srgbClr val="000000"/>
                          </a:solidFill>
                          <a:effectLst/>
                        </a:rPr>
                        <a:t>no</a:t>
                      </a:r>
                    </a:p>
                  </a:txBody>
                  <a:tcPr marL="16105" marR="16105" marT="8052" marB="8052"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AFAFA"/>
                    </a:solidFill>
                  </a:tcPr>
                </a:tc>
                <a:extLst>
                  <a:ext uri="{0D108BD9-81ED-4DB2-BD59-A6C34878D82A}">
                    <a16:rowId xmlns:a16="http://schemas.microsoft.com/office/drawing/2014/main" val="511081461"/>
                  </a:ext>
                </a:extLst>
              </a:tr>
            </a:tbl>
          </a:graphicData>
        </a:graphic>
      </p:graphicFrame>
    </p:spTree>
    <p:extLst>
      <p:ext uri="{BB962C8B-B14F-4D97-AF65-F5344CB8AC3E}">
        <p14:creationId xmlns:p14="http://schemas.microsoft.com/office/powerpoint/2010/main" val="22298553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473E65E-2FDA-774D-08A2-929F4D64E623}"/>
              </a:ext>
            </a:extLst>
          </p:cNvPr>
          <p:cNvSpPr txBox="1"/>
          <p:nvPr/>
        </p:nvSpPr>
        <p:spPr>
          <a:xfrm>
            <a:off x="627529" y="554573"/>
            <a:ext cx="6956612" cy="3539430"/>
          </a:xfrm>
          <a:prstGeom prst="rect">
            <a:avLst/>
          </a:prstGeom>
          <a:noFill/>
        </p:spPr>
        <p:txBody>
          <a:bodyPr wrap="square">
            <a:spAutoFit/>
          </a:bodyPr>
          <a:lstStyle/>
          <a:p>
            <a:pPr marL="171450" indent="-171450">
              <a:buFont typeface="Arial" panose="020B0604020202020204" pitchFamily="34" charset="0"/>
              <a:buChar char="•"/>
            </a:pPr>
            <a:r>
              <a:rPr lang="en-US" sz="1400" b="0" i="0" dirty="0">
                <a:effectLst/>
                <a:latin typeface="Times New Roman" panose="02020603050405020304" pitchFamily="18" charset="0"/>
                <a:cs typeface="Times New Roman" panose="02020603050405020304" pitchFamily="18" charset="0"/>
              </a:rPr>
              <a:t>subject# - Integer that uniquely identifies each subject</a:t>
            </a:r>
          </a:p>
          <a:p>
            <a:pPr marL="171450" indent="-171450">
              <a:buFont typeface="Arial" panose="020B0604020202020204" pitchFamily="34" charset="0"/>
              <a:buChar char="•"/>
            </a:pPr>
            <a:r>
              <a:rPr lang="en-US" sz="1400" b="0" i="0" dirty="0">
                <a:effectLst/>
                <a:latin typeface="Times New Roman" panose="02020603050405020304" pitchFamily="18" charset="0"/>
                <a:cs typeface="Times New Roman" panose="02020603050405020304" pitchFamily="18" charset="0"/>
              </a:rPr>
              <a:t>age - Subject age </a:t>
            </a:r>
          </a:p>
          <a:p>
            <a:pPr marL="171450" indent="-171450">
              <a:buFont typeface="Arial" panose="020B0604020202020204" pitchFamily="34" charset="0"/>
              <a:buChar char="•"/>
            </a:pPr>
            <a:r>
              <a:rPr lang="en-US" sz="1400" b="0" i="0" dirty="0">
                <a:effectLst/>
                <a:latin typeface="Times New Roman" panose="02020603050405020304" pitchFamily="18" charset="0"/>
                <a:cs typeface="Times New Roman" panose="02020603050405020304" pitchFamily="18" charset="0"/>
              </a:rPr>
              <a:t>sex - Subject gender '0' - male, '1' – female</a:t>
            </a:r>
          </a:p>
          <a:p>
            <a:pPr marL="171450" indent="-171450">
              <a:buFont typeface="Arial" panose="020B0604020202020204" pitchFamily="34" charset="0"/>
              <a:buChar char="•"/>
            </a:pPr>
            <a:r>
              <a:rPr lang="en-US" sz="1400" b="0" i="0" dirty="0" err="1">
                <a:effectLst/>
                <a:latin typeface="Times New Roman" panose="02020603050405020304" pitchFamily="18" charset="0"/>
                <a:cs typeface="Times New Roman" panose="02020603050405020304" pitchFamily="18" charset="0"/>
              </a:rPr>
              <a:t>test_time</a:t>
            </a:r>
            <a:r>
              <a:rPr lang="en-US" sz="1400" b="0" i="0" dirty="0">
                <a:effectLst/>
                <a:latin typeface="Times New Roman" panose="02020603050405020304" pitchFamily="18" charset="0"/>
                <a:cs typeface="Times New Roman" panose="02020603050405020304" pitchFamily="18" charset="0"/>
              </a:rPr>
              <a:t> - Time since recruitment into the trial. The integer part is the number of days since recruitment. </a:t>
            </a:r>
          </a:p>
          <a:p>
            <a:pPr marL="171450" indent="-171450">
              <a:buFont typeface="Arial" panose="020B0604020202020204" pitchFamily="34" charset="0"/>
              <a:buChar char="•"/>
            </a:pPr>
            <a:r>
              <a:rPr lang="en-US" sz="1400" b="0" i="0" dirty="0" err="1">
                <a:effectLst/>
                <a:latin typeface="Times New Roman" panose="02020603050405020304" pitchFamily="18" charset="0"/>
                <a:cs typeface="Times New Roman" panose="02020603050405020304" pitchFamily="18" charset="0"/>
              </a:rPr>
              <a:t>motor_UPDRS</a:t>
            </a:r>
            <a:r>
              <a:rPr lang="en-US" sz="1400" b="0" i="0" dirty="0">
                <a:effectLst/>
                <a:latin typeface="Times New Roman" panose="02020603050405020304" pitchFamily="18" charset="0"/>
                <a:cs typeface="Times New Roman" panose="02020603050405020304" pitchFamily="18" charset="0"/>
              </a:rPr>
              <a:t> - Clinician's motor UPDRS score, linearly interpolated </a:t>
            </a:r>
          </a:p>
          <a:p>
            <a:pPr marL="171450" indent="-171450">
              <a:buFont typeface="Arial" panose="020B0604020202020204" pitchFamily="34" charset="0"/>
              <a:buChar char="•"/>
            </a:pPr>
            <a:r>
              <a:rPr lang="en-US" sz="1400" b="0" i="0" dirty="0" err="1">
                <a:effectLst/>
                <a:latin typeface="Times New Roman" panose="02020603050405020304" pitchFamily="18" charset="0"/>
                <a:cs typeface="Times New Roman" panose="02020603050405020304" pitchFamily="18" charset="0"/>
              </a:rPr>
              <a:t>total_UPDRS</a:t>
            </a:r>
            <a:r>
              <a:rPr lang="en-US" sz="1400" b="0" i="0" dirty="0">
                <a:effectLst/>
                <a:latin typeface="Times New Roman" panose="02020603050405020304" pitchFamily="18" charset="0"/>
                <a:cs typeface="Times New Roman" panose="02020603050405020304" pitchFamily="18" charset="0"/>
              </a:rPr>
              <a:t> - Clinician's total UPDRS score, linearly interpolated</a:t>
            </a:r>
            <a:endParaRPr lang="en-US" sz="1400" dirty="0">
              <a:latin typeface="Times New Roman" panose="02020603050405020304" pitchFamily="18" charset="0"/>
              <a:cs typeface="Times New Roman" panose="02020603050405020304" pitchFamily="18" charset="0"/>
            </a:endParaRPr>
          </a:p>
          <a:p>
            <a:pPr marL="171450" indent="-171450">
              <a:buFont typeface="Arial" panose="020B0604020202020204" pitchFamily="34" charset="0"/>
              <a:buChar char="•"/>
            </a:pPr>
            <a:r>
              <a:rPr lang="en-US" sz="1400" b="0" i="0" dirty="0">
                <a:effectLst/>
                <a:latin typeface="Times New Roman" panose="02020603050405020304" pitchFamily="18" charset="0"/>
                <a:cs typeface="Times New Roman" panose="02020603050405020304" pitchFamily="18" charset="0"/>
              </a:rPr>
              <a:t>JITTER- Jitter(%),Jitter(Abs),Jitter:RAP,Jitter:PPQ5,Jitter:DDP - Several measures of variation in fundamental frequency </a:t>
            </a:r>
          </a:p>
          <a:p>
            <a:pPr marL="171450" indent="-171450">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SHIMMER- shimmer, </a:t>
            </a:r>
            <a:r>
              <a:rPr lang="en-US" sz="1400" b="0" i="0" dirty="0">
                <a:effectLst/>
                <a:latin typeface="Times New Roman" panose="02020603050405020304" pitchFamily="18" charset="0"/>
                <a:cs typeface="Times New Roman" panose="02020603050405020304" pitchFamily="18" charset="0"/>
              </a:rPr>
              <a:t>Shimmer(dB),Shimmer:APQ3,Shimmer:APQ5,Shimmer:APQ11,Shimmer:DDA - Several measures of variation in amplitude </a:t>
            </a:r>
          </a:p>
          <a:p>
            <a:pPr marL="171450" indent="-171450">
              <a:buFont typeface="Arial" panose="020B0604020202020204" pitchFamily="34" charset="0"/>
              <a:buChar char="•"/>
            </a:pPr>
            <a:r>
              <a:rPr lang="en-US" sz="1400" b="0" i="0" dirty="0">
                <a:effectLst/>
                <a:latin typeface="Times New Roman" panose="02020603050405020304" pitchFamily="18" charset="0"/>
                <a:cs typeface="Times New Roman" panose="02020603050405020304" pitchFamily="18" charset="0"/>
              </a:rPr>
              <a:t>NHR,HNR - Two measures of ratio of noise to tonal components in the voice </a:t>
            </a:r>
            <a:endParaRPr lang="en-US" sz="1400" dirty="0">
              <a:latin typeface="Times New Roman" panose="02020603050405020304" pitchFamily="18" charset="0"/>
              <a:cs typeface="Times New Roman" panose="02020603050405020304" pitchFamily="18" charset="0"/>
            </a:endParaRPr>
          </a:p>
          <a:p>
            <a:pPr marL="171450" indent="-171450">
              <a:buFont typeface="Arial" panose="020B0604020202020204" pitchFamily="34" charset="0"/>
              <a:buChar char="•"/>
            </a:pPr>
            <a:r>
              <a:rPr lang="en-US" sz="1400" b="0" i="0" dirty="0">
                <a:effectLst/>
                <a:latin typeface="Times New Roman" panose="02020603050405020304" pitchFamily="18" charset="0"/>
                <a:cs typeface="Times New Roman" panose="02020603050405020304" pitchFamily="18" charset="0"/>
              </a:rPr>
              <a:t>RPDE - A nonlinear dynamical complexity measure </a:t>
            </a:r>
          </a:p>
          <a:p>
            <a:pPr marL="171450" indent="-171450">
              <a:buFont typeface="Arial" panose="020B0604020202020204" pitchFamily="34" charset="0"/>
              <a:buChar char="•"/>
            </a:pPr>
            <a:r>
              <a:rPr lang="en-US" sz="1400" b="0" i="0" dirty="0">
                <a:effectLst/>
                <a:latin typeface="Times New Roman" panose="02020603050405020304" pitchFamily="18" charset="0"/>
                <a:cs typeface="Times New Roman" panose="02020603050405020304" pitchFamily="18" charset="0"/>
              </a:rPr>
              <a:t>DFA - Signal fractal scaling exponent </a:t>
            </a:r>
          </a:p>
          <a:p>
            <a:pPr marL="171450" indent="-171450">
              <a:buFont typeface="Arial" panose="020B0604020202020204" pitchFamily="34" charset="0"/>
              <a:buChar char="•"/>
            </a:pPr>
            <a:r>
              <a:rPr lang="en-US" sz="1400" b="0" i="0" dirty="0">
                <a:effectLst/>
                <a:latin typeface="Times New Roman" panose="02020603050405020304" pitchFamily="18" charset="0"/>
                <a:cs typeface="Times New Roman" panose="02020603050405020304" pitchFamily="18" charset="0"/>
              </a:rPr>
              <a:t>PPE - A nonlinear measure of fundamental frequency variation</a:t>
            </a:r>
            <a:endParaRPr lang="en-US"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086643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8" name="Text 5"/>
          <p:cNvSpPr/>
          <p:nvPr/>
        </p:nvSpPr>
        <p:spPr>
          <a:xfrm>
            <a:off x="381000" y="381000"/>
            <a:ext cx="8549640" cy="487660"/>
          </a:xfrm>
          <a:prstGeom prst="rect">
            <a:avLst/>
          </a:prstGeom>
          <a:ln/>
        </p:spPr>
        <p:style>
          <a:lnRef idx="2">
            <a:schemeClr val="dk1"/>
          </a:lnRef>
          <a:fillRef idx="1">
            <a:schemeClr val="lt1"/>
          </a:fillRef>
          <a:effectRef idx="0">
            <a:schemeClr val="dk1"/>
          </a:effectRef>
          <a:fontRef idx="minor">
            <a:schemeClr val="dk1"/>
          </a:fontRef>
        </p:style>
        <p:txBody>
          <a:bodyPr wrap="square" lIns="0" tIns="0" rIns="0" bIns="0" rtlCol="0" anchor="t"/>
          <a:lstStyle/>
          <a:p>
            <a:pPr marL="0" indent="0" algn="ctr">
              <a:lnSpc>
                <a:spcPts val="3840"/>
              </a:lnSpc>
              <a:buNone/>
            </a:pPr>
            <a:r>
              <a:rPr lang="en-US" sz="2400" b="1" dirty="0">
                <a:solidFill>
                  <a:srgbClr val="81C784"/>
                </a:solidFill>
                <a:latin typeface="Segoe UI" pitchFamily="34" charset="0"/>
                <a:ea typeface="Segoe UI" pitchFamily="34" charset="-122"/>
                <a:cs typeface="Segoe UI" pitchFamily="34" charset="-120"/>
              </a:rPr>
              <a:t> B. Summary Statistics</a:t>
            </a:r>
            <a:endParaRPr lang="en-US" sz="2400" dirty="0"/>
          </a:p>
        </p:txBody>
      </p:sp>
      <p:sp>
        <p:nvSpPr>
          <p:cNvPr id="30" name="TextBox 29">
            <a:extLst>
              <a:ext uri="{FF2B5EF4-FFF2-40B4-BE49-F238E27FC236}">
                <a16:creationId xmlns:a16="http://schemas.microsoft.com/office/drawing/2014/main" id="{32A86201-C49B-9C75-45CC-D7ADC02B2C03}"/>
              </a:ext>
            </a:extLst>
          </p:cNvPr>
          <p:cNvSpPr txBox="1"/>
          <p:nvPr/>
        </p:nvSpPr>
        <p:spPr>
          <a:xfrm>
            <a:off x="519952" y="1052781"/>
            <a:ext cx="1667435"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Python Code </a:t>
            </a:r>
            <a:r>
              <a:rPr lang="en-US" dirty="0"/>
              <a:t>:</a:t>
            </a:r>
          </a:p>
        </p:txBody>
      </p:sp>
      <p:pic>
        <p:nvPicPr>
          <p:cNvPr id="34" name="Picture 33" descr="The image displays a code snippet with statistical analysis of a dataset, including summary statistics, demographics, and recording period information.&#10;&#10;AI-generated content may be incorrect.">
            <a:extLst>
              <a:ext uri="{FF2B5EF4-FFF2-40B4-BE49-F238E27FC236}">
                <a16:creationId xmlns:a16="http://schemas.microsoft.com/office/drawing/2014/main" id="{269F9865-34A8-93B5-015F-01FCAA3E320E}"/>
              </a:ext>
            </a:extLst>
          </p:cNvPr>
          <p:cNvPicPr>
            <a:picLocks noChangeAspect="1"/>
          </p:cNvPicPr>
          <p:nvPr/>
        </p:nvPicPr>
        <p:blipFill>
          <a:blip r:embed="rId3"/>
          <a:stretch>
            <a:fillRect/>
          </a:stretch>
        </p:blipFill>
        <p:spPr>
          <a:xfrm>
            <a:off x="2716297" y="941296"/>
            <a:ext cx="6131868" cy="3971364"/>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951314-065D-5DB1-CCEC-F2581A2575FA}"/>
            </a:ext>
          </a:extLst>
        </p:cNvPr>
        <p:cNvGrpSpPr/>
        <p:nvPr/>
      </p:nvGrpSpPr>
      <p:grpSpPr>
        <a:xfrm>
          <a:off x="0" y="0"/>
          <a:ext cx="0" cy="0"/>
          <a:chOff x="0" y="0"/>
          <a:chExt cx="0" cy="0"/>
        </a:xfrm>
      </p:grpSpPr>
      <p:sp>
        <p:nvSpPr>
          <p:cNvPr id="8" name="Text 5">
            <a:extLst>
              <a:ext uri="{FF2B5EF4-FFF2-40B4-BE49-F238E27FC236}">
                <a16:creationId xmlns:a16="http://schemas.microsoft.com/office/drawing/2014/main" id="{4CDFDA17-C32A-8B3A-ECFA-99DCC7554835}"/>
              </a:ext>
            </a:extLst>
          </p:cNvPr>
          <p:cNvSpPr/>
          <p:nvPr/>
        </p:nvSpPr>
        <p:spPr>
          <a:xfrm>
            <a:off x="381000" y="381000"/>
            <a:ext cx="8549640" cy="487660"/>
          </a:xfrm>
          <a:prstGeom prst="rect">
            <a:avLst/>
          </a:prstGeom>
          <a:ln/>
        </p:spPr>
        <p:style>
          <a:lnRef idx="2">
            <a:schemeClr val="dk1"/>
          </a:lnRef>
          <a:fillRef idx="1">
            <a:schemeClr val="lt1"/>
          </a:fillRef>
          <a:effectRef idx="0">
            <a:schemeClr val="dk1"/>
          </a:effectRef>
          <a:fontRef idx="minor">
            <a:schemeClr val="dk1"/>
          </a:fontRef>
        </p:style>
        <p:txBody>
          <a:bodyPr wrap="square" lIns="0" tIns="0" rIns="0" bIns="0" rtlCol="0" anchor="t"/>
          <a:lstStyle/>
          <a:p>
            <a:pPr marL="0" indent="0" algn="ctr">
              <a:lnSpc>
                <a:spcPts val="3840"/>
              </a:lnSpc>
              <a:buNone/>
            </a:pPr>
            <a:r>
              <a:rPr lang="en-US" sz="2400" b="1" dirty="0">
                <a:solidFill>
                  <a:srgbClr val="81C784"/>
                </a:solidFill>
                <a:latin typeface="Segoe UI" pitchFamily="34" charset="0"/>
                <a:ea typeface="Segoe UI" pitchFamily="34" charset="-122"/>
                <a:cs typeface="Segoe UI" pitchFamily="34" charset="-120"/>
              </a:rPr>
              <a:t> B. Summary Statistics</a:t>
            </a:r>
            <a:endParaRPr lang="en-US" sz="2400" dirty="0"/>
          </a:p>
        </p:txBody>
      </p:sp>
      <p:sp>
        <p:nvSpPr>
          <p:cNvPr id="9" name="Text 6">
            <a:extLst>
              <a:ext uri="{FF2B5EF4-FFF2-40B4-BE49-F238E27FC236}">
                <a16:creationId xmlns:a16="http://schemas.microsoft.com/office/drawing/2014/main" id="{CE9CB309-7910-C072-22C1-4C771B899C59}"/>
              </a:ext>
            </a:extLst>
          </p:cNvPr>
          <p:cNvSpPr/>
          <p:nvPr/>
        </p:nvSpPr>
        <p:spPr>
          <a:xfrm>
            <a:off x="381000" y="1297286"/>
            <a:ext cx="4129088" cy="317004"/>
          </a:xfrm>
          <a:prstGeom prst="rect">
            <a:avLst/>
          </a:prstGeom>
          <a:noFill/>
          <a:ln/>
        </p:spPr>
        <p:txBody>
          <a:bodyPr wrap="square" lIns="0" tIns="0" rIns="0" bIns="0" rtlCol="0" anchor="t"/>
          <a:lstStyle/>
          <a:p>
            <a:pPr marL="0" indent="0">
              <a:lnSpc>
                <a:spcPts val="2496"/>
              </a:lnSpc>
              <a:buNone/>
            </a:pPr>
            <a:r>
              <a:rPr lang="en-US" sz="1100" b="1" dirty="0">
                <a:solidFill>
                  <a:srgbClr val="FFB74D"/>
                </a:solidFill>
                <a:latin typeface="Segoe UI" pitchFamily="34" charset="0"/>
                <a:ea typeface="Segoe UI" pitchFamily="34" charset="-122"/>
                <a:cs typeface="Segoe UI" pitchFamily="34" charset="-120"/>
              </a:rPr>
              <a:t>Motor UPDRS</a:t>
            </a:r>
            <a:endParaRPr lang="en-US" sz="1100" dirty="0"/>
          </a:p>
        </p:txBody>
      </p:sp>
      <p:sp>
        <p:nvSpPr>
          <p:cNvPr id="10" name="Text 7">
            <a:extLst>
              <a:ext uri="{FF2B5EF4-FFF2-40B4-BE49-F238E27FC236}">
                <a16:creationId xmlns:a16="http://schemas.microsoft.com/office/drawing/2014/main" id="{B2B89998-005A-F539-7C8F-39C5634AE7D2}"/>
              </a:ext>
            </a:extLst>
          </p:cNvPr>
          <p:cNvSpPr/>
          <p:nvPr/>
        </p:nvSpPr>
        <p:spPr>
          <a:xfrm>
            <a:off x="381000" y="1584324"/>
            <a:ext cx="1759927" cy="855541"/>
          </a:xfrm>
          <a:prstGeom prst="rect">
            <a:avLst/>
          </a:prstGeom>
          <a:noFill/>
          <a:ln/>
        </p:spPr>
        <p:txBody>
          <a:bodyPr wrap="square" lIns="0" tIns="0" rIns="0" bIns="0" rtlCol="0" anchor="t"/>
          <a:lstStyle/>
          <a:p>
            <a:pPr>
              <a:lnSpc>
                <a:spcPts val="1824"/>
              </a:lnSpc>
            </a:pPr>
            <a:r>
              <a:rPr lang="en-US" sz="1140" dirty="0"/>
              <a:t>Mean = 21.30 </a:t>
            </a:r>
          </a:p>
          <a:p>
            <a:pPr>
              <a:lnSpc>
                <a:spcPts val="1824"/>
              </a:lnSpc>
            </a:pPr>
            <a:r>
              <a:rPr lang="en-US" sz="1140" dirty="0"/>
              <a:t>SD = 8.13</a:t>
            </a:r>
          </a:p>
          <a:p>
            <a:pPr>
              <a:lnSpc>
                <a:spcPts val="1824"/>
              </a:lnSpc>
            </a:pPr>
            <a:r>
              <a:rPr lang="en-US" sz="1140" dirty="0"/>
              <a:t>Range = [5.04 (Min) &amp; 39.51 (Max)</a:t>
            </a:r>
          </a:p>
        </p:txBody>
      </p:sp>
      <p:sp>
        <p:nvSpPr>
          <p:cNvPr id="13" name="Text 10">
            <a:extLst>
              <a:ext uri="{FF2B5EF4-FFF2-40B4-BE49-F238E27FC236}">
                <a16:creationId xmlns:a16="http://schemas.microsoft.com/office/drawing/2014/main" id="{A5CE978D-071A-11A4-F42E-EA4C0999C1A8}"/>
              </a:ext>
            </a:extLst>
          </p:cNvPr>
          <p:cNvSpPr/>
          <p:nvPr/>
        </p:nvSpPr>
        <p:spPr>
          <a:xfrm>
            <a:off x="4714875" y="1297286"/>
            <a:ext cx="4129088" cy="317004"/>
          </a:xfrm>
          <a:prstGeom prst="rect">
            <a:avLst/>
          </a:prstGeom>
          <a:noFill/>
          <a:ln/>
        </p:spPr>
        <p:txBody>
          <a:bodyPr wrap="square" lIns="0" tIns="0" rIns="0" bIns="0" rtlCol="0" anchor="t"/>
          <a:lstStyle/>
          <a:p>
            <a:pPr marL="0" indent="0">
              <a:lnSpc>
                <a:spcPts val="2496"/>
              </a:lnSpc>
              <a:buNone/>
            </a:pPr>
            <a:r>
              <a:rPr lang="en-US" sz="1200" b="1" dirty="0">
                <a:solidFill>
                  <a:srgbClr val="FFB74D"/>
                </a:solidFill>
                <a:latin typeface="Segoe UI" pitchFamily="34" charset="0"/>
                <a:ea typeface="Segoe UI" pitchFamily="34" charset="-122"/>
                <a:cs typeface="Segoe UI" pitchFamily="34" charset="-120"/>
              </a:rPr>
              <a:t>Total UPDRS</a:t>
            </a:r>
            <a:endParaRPr lang="en-US" sz="1200" dirty="0"/>
          </a:p>
        </p:txBody>
      </p:sp>
      <p:sp>
        <p:nvSpPr>
          <p:cNvPr id="17" name="Text 14">
            <a:extLst>
              <a:ext uri="{FF2B5EF4-FFF2-40B4-BE49-F238E27FC236}">
                <a16:creationId xmlns:a16="http://schemas.microsoft.com/office/drawing/2014/main" id="{5AA4CB2E-1EF8-C0D6-A613-85BC78081E0A}"/>
              </a:ext>
            </a:extLst>
          </p:cNvPr>
          <p:cNvSpPr/>
          <p:nvPr/>
        </p:nvSpPr>
        <p:spPr>
          <a:xfrm>
            <a:off x="381001" y="3070755"/>
            <a:ext cx="1759925" cy="261669"/>
          </a:xfrm>
          <a:prstGeom prst="rect">
            <a:avLst/>
          </a:prstGeom>
          <a:noFill/>
          <a:ln/>
        </p:spPr>
        <p:txBody>
          <a:bodyPr wrap="square" lIns="0" tIns="0" rIns="0" bIns="0" rtlCol="0" anchor="t"/>
          <a:lstStyle/>
          <a:p>
            <a:pPr marL="0" indent="0">
              <a:lnSpc>
                <a:spcPts val="2244"/>
              </a:lnSpc>
              <a:buNone/>
            </a:pPr>
            <a:r>
              <a:rPr lang="en-US" sz="1320" b="1" dirty="0">
                <a:solidFill>
                  <a:srgbClr val="FFB74D"/>
                </a:solidFill>
                <a:latin typeface="Segoe UI" pitchFamily="34" charset="0"/>
                <a:ea typeface="Segoe UI" pitchFamily="34" charset="-122"/>
                <a:cs typeface="Segoe UI" pitchFamily="34" charset="-120"/>
              </a:rPr>
              <a:t>Age</a:t>
            </a:r>
            <a:endParaRPr lang="en-US" sz="1320" dirty="0">
              <a:solidFill>
                <a:srgbClr val="F5F5F5"/>
              </a:solidFill>
              <a:latin typeface="Segoe UI" pitchFamily="34" charset="0"/>
              <a:ea typeface="Segoe UI" pitchFamily="34" charset="-122"/>
              <a:cs typeface="Segoe UI" pitchFamily="34" charset="-120"/>
            </a:endParaRPr>
          </a:p>
        </p:txBody>
      </p:sp>
      <p:sp>
        <p:nvSpPr>
          <p:cNvPr id="20" name="Text 7">
            <a:extLst>
              <a:ext uri="{FF2B5EF4-FFF2-40B4-BE49-F238E27FC236}">
                <a16:creationId xmlns:a16="http://schemas.microsoft.com/office/drawing/2014/main" id="{79247048-2AC9-29DB-AD5F-FFD1899E26FC}"/>
              </a:ext>
            </a:extLst>
          </p:cNvPr>
          <p:cNvSpPr/>
          <p:nvPr/>
        </p:nvSpPr>
        <p:spPr>
          <a:xfrm>
            <a:off x="4714875" y="1584323"/>
            <a:ext cx="1759927" cy="855541"/>
          </a:xfrm>
          <a:prstGeom prst="rect">
            <a:avLst/>
          </a:prstGeom>
          <a:noFill/>
          <a:ln/>
        </p:spPr>
        <p:txBody>
          <a:bodyPr wrap="square" lIns="0" tIns="0" rIns="0" bIns="0" rtlCol="0" anchor="t"/>
          <a:lstStyle/>
          <a:p>
            <a:pPr>
              <a:lnSpc>
                <a:spcPts val="1824"/>
              </a:lnSpc>
            </a:pPr>
            <a:r>
              <a:rPr lang="en-US" sz="1140" dirty="0"/>
              <a:t>Mean = 29.02</a:t>
            </a:r>
          </a:p>
          <a:p>
            <a:pPr>
              <a:lnSpc>
                <a:spcPts val="1824"/>
              </a:lnSpc>
            </a:pPr>
            <a:r>
              <a:rPr lang="en-US" sz="1140" dirty="0"/>
              <a:t>SD = 10.7</a:t>
            </a:r>
          </a:p>
          <a:p>
            <a:pPr>
              <a:lnSpc>
                <a:spcPts val="1824"/>
              </a:lnSpc>
            </a:pPr>
            <a:r>
              <a:rPr lang="en-US" sz="1140" dirty="0"/>
              <a:t>Range = 7.00 (Min) &amp; 54.99 (max) </a:t>
            </a:r>
          </a:p>
        </p:txBody>
      </p:sp>
      <p:sp>
        <p:nvSpPr>
          <p:cNvPr id="21" name="TextBox 20">
            <a:extLst>
              <a:ext uri="{FF2B5EF4-FFF2-40B4-BE49-F238E27FC236}">
                <a16:creationId xmlns:a16="http://schemas.microsoft.com/office/drawing/2014/main" id="{4C3FF5E6-3D1E-25FD-9DD6-6FF9924C7A7E}"/>
              </a:ext>
            </a:extLst>
          </p:cNvPr>
          <p:cNvSpPr txBox="1"/>
          <p:nvPr/>
        </p:nvSpPr>
        <p:spPr>
          <a:xfrm>
            <a:off x="380999" y="981796"/>
            <a:ext cx="4936881" cy="36933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b="1" dirty="0">
                <a:solidFill>
                  <a:srgbClr val="00B050"/>
                </a:solidFill>
                <a:latin typeface="Times New Roman" panose="02020603050405020304" pitchFamily="18" charset="0"/>
                <a:cs typeface="Times New Roman" panose="02020603050405020304" pitchFamily="18" charset="0"/>
              </a:rPr>
              <a:t>1) Target Variables:</a:t>
            </a:r>
            <a:endParaRPr lang="en-US" b="1" dirty="0">
              <a:solidFill>
                <a:schemeClr val="bg1"/>
              </a:solidFill>
              <a:latin typeface="Times New Roman" panose="02020603050405020304" pitchFamily="18" charset="0"/>
              <a:cs typeface="Times New Roman" panose="02020603050405020304" pitchFamily="18" charset="0"/>
            </a:endParaRPr>
          </a:p>
        </p:txBody>
      </p:sp>
      <p:sp>
        <p:nvSpPr>
          <p:cNvPr id="22" name="TextBox 21">
            <a:extLst>
              <a:ext uri="{FF2B5EF4-FFF2-40B4-BE49-F238E27FC236}">
                <a16:creationId xmlns:a16="http://schemas.microsoft.com/office/drawing/2014/main" id="{5A3552D0-8B11-9421-6CC3-7D122FEBB4F4}"/>
              </a:ext>
            </a:extLst>
          </p:cNvPr>
          <p:cNvSpPr txBox="1"/>
          <p:nvPr/>
        </p:nvSpPr>
        <p:spPr>
          <a:xfrm>
            <a:off x="381000" y="2639775"/>
            <a:ext cx="4936881" cy="36933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b="1" dirty="0">
                <a:solidFill>
                  <a:srgbClr val="00B050"/>
                </a:solidFill>
                <a:latin typeface="Times New Roman" panose="02020603050405020304" pitchFamily="18" charset="0"/>
                <a:cs typeface="Times New Roman" panose="02020603050405020304" pitchFamily="18" charset="0"/>
              </a:rPr>
              <a:t>2) Demographics:</a:t>
            </a:r>
            <a:endParaRPr lang="en-US" b="1" dirty="0">
              <a:solidFill>
                <a:schemeClr val="bg1"/>
              </a:solidFill>
              <a:latin typeface="Times New Roman" panose="02020603050405020304" pitchFamily="18" charset="0"/>
              <a:cs typeface="Times New Roman" panose="02020603050405020304" pitchFamily="18" charset="0"/>
            </a:endParaRPr>
          </a:p>
        </p:txBody>
      </p:sp>
      <p:sp>
        <p:nvSpPr>
          <p:cNvPr id="24" name="Text 7">
            <a:extLst>
              <a:ext uri="{FF2B5EF4-FFF2-40B4-BE49-F238E27FC236}">
                <a16:creationId xmlns:a16="http://schemas.microsoft.com/office/drawing/2014/main" id="{0B59913C-9AD3-DF81-3BC6-0F53E37AEF1B}"/>
              </a:ext>
            </a:extLst>
          </p:cNvPr>
          <p:cNvSpPr/>
          <p:nvPr/>
        </p:nvSpPr>
        <p:spPr>
          <a:xfrm>
            <a:off x="380999" y="3350252"/>
            <a:ext cx="1759927" cy="1086157"/>
          </a:xfrm>
          <a:prstGeom prst="rect">
            <a:avLst/>
          </a:prstGeom>
          <a:noFill/>
          <a:ln/>
        </p:spPr>
        <p:txBody>
          <a:bodyPr wrap="square" lIns="0" tIns="0" rIns="0" bIns="0" rtlCol="0" anchor="t"/>
          <a:lstStyle/>
          <a:p>
            <a:pPr>
              <a:lnSpc>
                <a:spcPts val="1824"/>
              </a:lnSpc>
            </a:pPr>
            <a:r>
              <a:rPr lang="en-US" sz="1140" dirty="0"/>
              <a:t>Mean = 64.8</a:t>
            </a:r>
          </a:p>
          <a:p>
            <a:pPr>
              <a:lnSpc>
                <a:spcPts val="1824"/>
              </a:lnSpc>
            </a:pPr>
            <a:r>
              <a:rPr lang="en-US" sz="1140" dirty="0"/>
              <a:t>Range = 36-85 Years</a:t>
            </a:r>
          </a:p>
        </p:txBody>
      </p:sp>
      <p:sp>
        <p:nvSpPr>
          <p:cNvPr id="25" name="Text 7">
            <a:extLst>
              <a:ext uri="{FF2B5EF4-FFF2-40B4-BE49-F238E27FC236}">
                <a16:creationId xmlns:a16="http://schemas.microsoft.com/office/drawing/2014/main" id="{8D67DB89-1746-7ACA-ACCC-DFAAEB6A368B}"/>
              </a:ext>
            </a:extLst>
          </p:cNvPr>
          <p:cNvSpPr/>
          <p:nvPr/>
        </p:nvSpPr>
        <p:spPr>
          <a:xfrm>
            <a:off x="2293327" y="3350251"/>
            <a:ext cx="1759927" cy="855541"/>
          </a:xfrm>
          <a:prstGeom prst="rect">
            <a:avLst/>
          </a:prstGeom>
          <a:noFill/>
          <a:ln/>
        </p:spPr>
        <p:txBody>
          <a:bodyPr wrap="square" lIns="0" tIns="0" rIns="0" bIns="0" rtlCol="0" anchor="t"/>
          <a:lstStyle/>
          <a:p>
            <a:pPr>
              <a:lnSpc>
                <a:spcPts val="1824"/>
              </a:lnSpc>
            </a:pPr>
            <a:r>
              <a:rPr lang="en-US" sz="1140" dirty="0"/>
              <a:t>Total= 5875 Recordings</a:t>
            </a:r>
          </a:p>
          <a:p>
            <a:pPr>
              <a:lnSpc>
                <a:spcPts val="1824"/>
              </a:lnSpc>
            </a:pPr>
            <a:r>
              <a:rPr lang="en-US" sz="1140" dirty="0"/>
              <a:t>Male = 4800 (68%)</a:t>
            </a:r>
          </a:p>
          <a:p>
            <a:pPr>
              <a:lnSpc>
                <a:spcPts val="1824"/>
              </a:lnSpc>
            </a:pPr>
            <a:r>
              <a:rPr lang="en-US" sz="1140" dirty="0"/>
              <a:t>Female = 1,867 (32%)</a:t>
            </a:r>
          </a:p>
        </p:txBody>
      </p:sp>
      <p:sp>
        <p:nvSpPr>
          <p:cNvPr id="26" name="Text 14">
            <a:extLst>
              <a:ext uri="{FF2B5EF4-FFF2-40B4-BE49-F238E27FC236}">
                <a16:creationId xmlns:a16="http://schemas.microsoft.com/office/drawing/2014/main" id="{15B81916-60C4-59C1-0D8D-AACEA9441E3F}"/>
              </a:ext>
            </a:extLst>
          </p:cNvPr>
          <p:cNvSpPr/>
          <p:nvPr/>
        </p:nvSpPr>
        <p:spPr>
          <a:xfrm>
            <a:off x="2293326" y="3029934"/>
            <a:ext cx="1759925" cy="261669"/>
          </a:xfrm>
          <a:prstGeom prst="rect">
            <a:avLst/>
          </a:prstGeom>
          <a:noFill/>
          <a:ln/>
        </p:spPr>
        <p:txBody>
          <a:bodyPr wrap="square" lIns="0" tIns="0" rIns="0" bIns="0" rtlCol="0" anchor="t"/>
          <a:lstStyle/>
          <a:p>
            <a:pPr marL="0" indent="0">
              <a:lnSpc>
                <a:spcPts val="2244"/>
              </a:lnSpc>
              <a:buNone/>
            </a:pPr>
            <a:r>
              <a:rPr lang="en-US" sz="1320" b="1" dirty="0">
                <a:solidFill>
                  <a:srgbClr val="FFB74D"/>
                </a:solidFill>
                <a:latin typeface="Segoe UI" pitchFamily="34" charset="0"/>
                <a:ea typeface="Segoe UI" pitchFamily="34" charset="-122"/>
                <a:cs typeface="Segoe UI" pitchFamily="34" charset="-120"/>
              </a:rPr>
              <a:t>Gender</a:t>
            </a:r>
            <a:endParaRPr lang="en-US" sz="1320" dirty="0">
              <a:solidFill>
                <a:srgbClr val="F5F5F5"/>
              </a:solidFill>
              <a:latin typeface="Segoe UI" pitchFamily="34" charset="0"/>
              <a:ea typeface="Segoe UI" pitchFamily="34" charset="-122"/>
              <a:cs typeface="Segoe UI" pitchFamily="34" charset="-120"/>
            </a:endParaRPr>
          </a:p>
        </p:txBody>
      </p:sp>
      <p:sp>
        <p:nvSpPr>
          <p:cNvPr id="27" name="Text 14">
            <a:extLst>
              <a:ext uri="{FF2B5EF4-FFF2-40B4-BE49-F238E27FC236}">
                <a16:creationId xmlns:a16="http://schemas.microsoft.com/office/drawing/2014/main" id="{E1DBBBD4-1C42-9F1A-EFDD-45D89F94D153}"/>
              </a:ext>
            </a:extLst>
          </p:cNvPr>
          <p:cNvSpPr/>
          <p:nvPr/>
        </p:nvSpPr>
        <p:spPr>
          <a:xfrm>
            <a:off x="4396153" y="3009107"/>
            <a:ext cx="1759925" cy="261669"/>
          </a:xfrm>
          <a:prstGeom prst="rect">
            <a:avLst/>
          </a:prstGeom>
          <a:noFill/>
          <a:ln/>
        </p:spPr>
        <p:txBody>
          <a:bodyPr wrap="square" lIns="0" tIns="0" rIns="0" bIns="0" rtlCol="0" anchor="t"/>
          <a:lstStyle/>
          <a:p>
            <a:pPr marL="0" indent="0">
              <a:lnSpc>
                <a:spcPts val="2244"/>
              </a:lnSpc>
              <a:buNone/>
            </a:pPr>
            <a:r>
              <a:rPr lang="en-US" sz="1320" b="1" dirty="0">
                <a:solidFill>
                  <a:srgbClr val="FFB74D"/>
                </a:solidFill>
                <a:latin typeface="Segoe UI" pitchFamily="34" charset="0"/>
                <a:ea typeface="Segoe UI" pitchFamily="34" charset="-122"/>
                <a:cs typeface="Segoe UI" pitchFamily="34" charset="-120"/>
              </a:rPr>
              <a:t>Recording Period</a:t>
            </a:r>
            <a:endParaRPr lang="en-US" sz="1320" dirty="0">
              <a:solidFill>
                <a:srgbClr val="F5F5F5"/>
              </a:solidFill>
              <a:latin typeface="Segoe UI" pitchFamily="34" charset="0"/>
              <a:ea typeface="Segoe UI" pitchFamily="34" charset="-122"/>
              <a:cs typeface="Segoe UI" pitchFamily="34" charset="-120"/>
            </a:endParaRPr>
          </a:p>
        </p:txBody>
      </p:sp>
      <p:sp>
        <p:nvSpPr>
          <p:cNvPr id="29" name="Text 7">
            <a:extLst>
              <a:ext uri="{FF2B5EF4-FFF2-40B4-BE49-F238E27FC236}">
                <a16:creationId xmlns:a16="http://schemas.microsoft.com/office/drawing/2014/main" id="{FD9E960A-29FC-F174-1EAA-31F212CFF5DD}"/>
              </a:ext>
            </a:extLst>
          </p:cNvPr>
          <p:cNvSpPr/>
          <p:nvPr/>
        </p:nvSpPr>
        <p:spPr>
          <a:xfrm>
            <a:off x="4396151" y="3295242"/>
            <a:ext cx="2078651" cy="433270"/>
          </a:xfrm>
          <a:prstGeom prst="rect">
            <a:avLst/>
          </a:prstGeom>
          <a:noFill/>
          <a:ln/>
        </p:spPr>
        <p:txBody>
          <a:bodyPr wrap="square" lIns="0" tIns="0" rIns="0" bIns="0" rtlCol="0" anchor="t"/>
          <a:lstStyle/>
          <a:p>
            <a:pPr>
              <a:lnSpc>
                <a:spcPts val="1824"/>
              </a:lnSpc>
            </a:pPr>
            <a:r>
              <a:rPr lang="en-US" sz="1140" dirty="0"/>
              <a:t>1 to 215 days since recruitment</a:t>
            </a:r>
          </a:p>
        </p:txBody>
      </p:sp>
    </p:spTree>
    <p:extLst>
      <p:ext uri="{BB962C8B-B14F-4D97-AF65-F5344CB8AC3E}">
        <p14:creationId xmlns:p14="http://schemas.microsoft.com/office/powerpoint/2010/main" val="15118371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0B4E637-095F-78B5-A786-F18848A23780}"/>
              </a:ext>
            </a:extLst>
          </p:cNvPr>
          <p:cNvSpPr txBox="1"/>
          <p:nvPr/>
        </p:nvSpPr>
        <p:spPr>
          <a:xfrm>
            <a:off x="381000" y="470316"/>
            <a:ext cx="4936881" cy="36933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b="1" dirty="0">
                <a:solidFill>
                  <a:srgbClr val="00B050"/>
                </a:solidFill>
                <a:latin typeface="Times New Roman" panose="02020603050405020304" pitchFamily="18" charset="0"/>
                <a:cs typeface="Times New Roman" panose="02020603050405020304" pitchFamily="18" charset="0"/>
              </a:rPr>
              <a:t>3 Voice Features:</a:t>
            </a:r>
            <a:endParaRPr lang="en-US" b="1" dirty="0">
              <a:solidFill>
                <a:schemeClr val="bg1"/>
              </a:solidFill>
              <a:latin typeface="Times New Roman" panose="02020603050405020304" pitchFamily="18" charset="0"/>
              <a:cs typeface="Times New Roman" panose="02020603050405020304" pitchFamily="18" charset="0"/>
            </a:endParaRPr>
          </a:p>
        </p:txBody>
      </p:sp>
      <p:sp>
        <p:nvSpPr>
          <p:cNvPr id="3" name="Text 6">
            <a:extLst>
              <a:ext uri="{FF2B5EF4-FFF2-40B4-BE49-F238E27FC236}">
                <a16:creationId xmlns:a16="http://schemas.microsoft.com/office/drawing/2014/main" id="{468D5FB0-AC40-CFF2-45F0-46F02C0AC624}"/>
              </a:ext>
            </a:extLst>
          </p:cNvPr>
          <p:cNvSpPr/>
          <p:nvPr/>
        </p:nvSpPr>
        <p:spPr>
          <a:xfrm>
            <a:off x="442912" y="839647"/>
            <a:ext cx="3806359" cy="369331"/>
          </a:xfrm>
          <a:prstGeom prst="rect">
            <a:avLst/>
          </a:prstGeom>
          <a:noFill/>
          <a:ln/>
        </p:spPr>
        <p:txBody>
          <a:bodyPr wrap="square" lIns="0" tIns="0" rIns="0" bIns="0" rtlCol="0" anchor="t"/>
          <a:lstStyle/>
          <a:p>
            <a:pPr marL="0" indent="0">
              <a:lnSpc>
                <a:spcPts val="2496"/>
              </a:lnSpc>
              <a:buNone/>
            </a:pPr>
            <a:r>
              <a:rPr lang="en-US" sz="1100" b="1" dirty="0">
                <a:solidFill>
                  <a:srgbClr val="FFB74D"/>
                </a:solidFill>
                <a:latin typeface="Segoe UI" pitchFamily="34" charset="0"/>
                <a:cs typeface="Segoe UI" pitchFamily="34" charset="-120"/>
              </a:rPr>
              <a:t>Jitter (%): Measures Pitch Variation </a:t>
            </a:r>
            <a:endParaRPr lang="en-US" sz="1100" dirty="0"/>
          </a:p>
        </p:txBody>
      </p:sp>
      <p:sp>
        <p:nvSpPr>
          <p:cNvPr id="5" name="Text 6">
            <a:extLst>
              <a:ext uri="{FF2B5EF4-FFF2-40B4-BE49-F238E27FC236}">
                <a16:creationId xmlns:a16="http://schemas.microsoft.com/office/drawing/2014/main" id="{2A7223AF-CBCD-0EF4-7F85-98E1EBA1F59F}"/>
              </a:ext>
            </a:extLst>
          </p:cNvPr>
          <p:cNvSpPr/>
          <p:nvPr/>
        </p:nvSpPr>
        <p:spPr>
          <a:xfrm>
            <a:off x="381000" y="1669642"/>
            <a:ext cx="3806359" cy="369331"/>
          </a:xfrm>
          <a:prstGeom prst="rect">
            <a:avLst/>
          </a:prstGeom>
          <a:noFill/>
          <a:ln/>
        </p:spPr>
        <p:txBody>
          <a:bodyPr wrap="square" lIns="0" tIns="0" rIns="0" bIns="0" rtlCol="0" anchor="t"/>
          <a:lstStyle/>
          <a:p>
            <a:pPr marL="0" indent="0">
              <a:lnSpc>
                <a:spcPts val="2496"/>
              </a:lnSpc>
              <a:buNone/>
            </a:pPr>
            <a:r>
              <a:rPr lang="en-US" sz="1100" b="1" dirty="0">
                <a:solidFill>
                  <a:srgbClr val="FFB74D"/>
                </a:solidFill>
                <a:latin typeface="Segoe UI" pitchFamily="34" charset="0"/>
                <a:cs typeface="Segoe UI" pitchFamily="34" charset="-120"/>
              </a:rPr>
              <a:t>Shimmer: Measures Amplitude Variation </a:t>
            </a:r>
            <a:endParaRPr lang="en-US" sz="1100" dirty="0"/>
          </a:p>
        </p:txBody>
      </p:sp>
      <p:sp>
        <p:nvSpPr>
          <p:cNvPr id="6" name="Text 6">
            <a:extLst>
              <a:ext uri="{FF2B5EF4-FFF2-40B4-BE49-F238E27FC236}">
                <a16:creationId xmlns:a16="http://schemas.microsoft.com/office/drawing/2014/main" id="{DEE375EB-E742-DA01-ACA6-B392463291ED}"/>
              </a:ext>
            </a:extLst>
          </p:cNvPr>
          <p:cNvSpPr/>
          <p:nvPr/>
        </p:nvSpPr>
        <p:spPr>
          <a:xfrm>
            <a:off x="381000" y="2517433"/>
            <a:ext cx="3806359" cy="369331"/>
          </a:xfrm>
          <a:prstGeom prst="rect">
            <a:avLst/>
          </a:prstGeom>
          <a:noFill/>
          <a:ln/>
        </p:spPr>
        <p:txBody>
          <a:bodyPr wrap="square" lIns="0" tIns="0" rIns="0" bIns="0" rtlCol="0" anchor="t"/>
          <a:lstStyle/>
          <a:p>
            <a:pPr marL="0" indent="0">
              <a:lnSpc>
                <a:spcPts val="2496"/>
              </a:lnSpc>
              <a:buNone/>
            </a:pPr>
            <a:r>
              <a:rPr lang="en-US" sz="1100" b="1" dirty="0">
                <a:solidFill>
                  <a:srgbClr val="FFB74D"/>
                </a:solidFill>
                <a:latin typeface="Segoe UI" pitchFamily="34" charset="0"/>
                <a:cs typeface="Segoe UI" pitchFamily="34" charset="-120"/>
              </a:rPr>
              <a:t>HNR: Measures harmonic-to-noise ratio </a:t>
            </a:r>
            <a:endParaRPr lang="en-US" sz="1100" dirty="0"/>
          </a:p>
        </p:txBody>
      </p:sp>
      <p:sp>
        <p:nvSpPr>
          <p:cNvPr id="8" name="Text 7">
            <a:extLst>
              <a:ext uri="{FF2B5EF4-FFF2-40B4-BE49-F238E27FC236}">
                <a16:creationId xmlns:a16="http://schemas.microsoft.com/office/drawing/2014/main" id="{EF21262D-6B52-A053-C58E-A991699421EA}"/>
              </a:ext>
            </a:extLst>
          </p:cNvPr>
          <p:cNvSpPr/>
          <p:nvPr/>
        </p:nvSpPr>
        <p:spPr>
          <a:xfrm>
            <a:off x="442912" y="1191677"/>
            <a:ext cx="2102225" cy="400241"/>
          </a:xfrm>
          <a:prstGeom prst="rect">
            <a:avLst/>
          </a:prstGeom>
          <a:noFill/>
          <a:ln/>
        </p:spPr>
        <p:txBody>
          <a:bodyPr wrap="square" lIns="0" tIns="0" rIns="0" bIns="0" rtlCol="0" anchor="t"/>
          <a:lstStyle/>
          <a:p>
            <a:pPr>
              <a:lnSpc>
                <a:spcPts val="1824"/>
              </a:lnSpc>
            </a:pPr>
            <a:r>
              <a:rPr lang="en-US" sz="1140" dirty="0"/>
              <a:t>Mean = 0.006</a:t>
            </a:r>
          </a:p>
        </p:txBody>
      </p:sp>
      <p:sp>
        <p:nvSpPr>
          <p:cNvPr id="9" name="Text 7">
            <a:extLst>
              <a:ext uri="{FF2B5EF4-FFF2-40B4-BE49-F238E27FC236}">
                <a16:creationId xmlns:a16="http://schemas.microsoft.com/office/drawing/2014/main" id="{BC4EE123-8BC8-2A96-78F0-400B977F368A}"/>
              </a:ext>
            </a:extLst>
          </p:cNvPr>
          <p:cNvSpPr/>
          <p:nvPr/>
        </p:nvSpPr>
        <p:spPr>
          <a:xfrm>
            <a:off x="381000" y="2062380"/>
            <a:ext cx="2102225" cy="400241"/>
          </a:xfrm>
          <a:prstGeom prst="rect">
            <a:avLst/>
          </a:prstGeom>
          <a:noFill/>
          <a:ln/>
        </p:spPr>
        <p:txBody>
          <a:bodyPr wrap="square" lIns="0" tIns="0" rIns="0" bIns="0" rtlCol="0" anchor="t"/>
          <a:lstStyle/>
          <a:p>
            <a:pPr>
              <a:lnSpc>
                <a:spcPts val="1824"/>
              </a:lnSpc>
            </a:pPr>
            <a:r>
              <a:rPr lang="en-US" sz="1140" dirty="0"/>
              <a:t>Mean = 0.029</a:t>
            </a:r>
          </a:p>
        </p:txBody>
      </p:sp>
      <p:sp>
        <p:nvSpPr>
          <p:cNvPr id="10" name="Text 7">
            <a:extLst>
              <a:ext uri="{FF2B5EF4-FFF2-40B4-BE49-F238E27FC236}">
                <a16:creationId xmlns:a16="http://schemas.microsoft.com/office/drawing/2014/main" id="{200BA0C8-C9B4-254C-A3A4-E7A3EE6DACD4}"/>
              </a:ext>
            </a:extLst>
          </p:cNvPr>
          <p:cNvSpPr/>
          <p:nvPr/>
        </p:nvSpPr>
        <p:spPr>
          <a:xfrm>
            <a:off x="381000" y="2868967"/>
            <a:ext cx="2102225" cy="400241"/>
          </a:xfrm>
          <a:prstGeom prst="rect">
            <a:avLst/>
          </a:prstGeom>
          <a:noFill/>
          <a:ln/>
        </p:spPr>
        <p:txBody>
          <a:bodyPr wrap="square" lIns="0" tIns="0" rIns="0" bIns="0" rtlCol="0" anchor="t"/>
          <a:lstStyle/>
          <a:p>
            <a:pPr>
              <a:lnSpc>
                <a:spcPts val="1824"/>
              </a:lnSpc>
            </a:pPr>
            <a:r>
              <a:rPr lang="en-US" sz="1140" dirty="0"/>
              <a:t>Mean = 21.68 dB</a:t>
            </a:r>
          </a:p>
        </p:txBody>
      </p:sp>
    </p:spTree>
    <p:extLst>
      <p:ext uri="{BB962C8B-B14F-4D97-AF65-F5344CB8AC3E}">
        <p14:creationId xmlns:p14="http://schemas.microsoft.com/office/powerpoint/2010/main" val="26989312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The image displays a figure with two subplots: the first subplot shows a histogram of Motor UPDRS scores, and the second subplot presents a correlation heatmap of various voice features.&#10;&#10;AI-generated content may be incorrect.">
            <a:extLst>
              <a:ext uri="{FF2B5EF4-FFF2-40B4-BE49-F238E27FC236}">
                <a16:creationId xmlns:a16="http://schemas.microsoft.com/office/drawing/2014/main" id="{3C369340-90DB-984A-504C-762A17D949A1}"/>
              </a:ext>
            </a:extLst>
          </p:cNvPr>
          <p:cNvPicPr>
            <a:picLocks noChangeAspect="1"/>
          </p:cNvPicPr>
          <p:nvPr/>
        </p:nvPicPr>
        <p:blipFill>
          <a:blip r:embed="rId2"/>
          <a:stretch>
            <a:fillRect/>
          </a:stretch>
        </p:blipFill>
        <p:spPr>
          <a:xfrm>
            <a:off x="213322" y="977153"/>
            <a:ext cx="4269031" cy="3978088"/>
          </a:xfrm>
          <a:prstGeom prst="rect">
            <a:avLst/>
          </a:prstGeom>
        </p:spPr>
      </p:pic>
      <p:pic>
        <p:nvPicPr>
          <p:cNvPr id="5" name="Picture 4">
            <a:extLst>
              <a:ext uri="{FF2B5EF4-FFF2-40B4-BE49-F238E27FC236}">
                <a16:creationId xmlns:a16="http://schemas.microsoft.com/office/drawing/2014/main" id="{739CB28A-5E3F-DAB9-A5A0-97D8C7EEA8DE}"/>
              </a:ext>
            </a:extLst>
          </p:cNvPr>
          <p:cNvPicPr>
            <a:picLocks noChangeAspect="1"/>
          </p:cNvPicPr>
          <p:nvPr/>
        </p:nvPicPr>
        <p:blipFill>
          <a:blip r:embed="rId3"/>
          <a:stretch>
            <a:fillRect/>
          </a:stretch>
        </p:blipFill>
        <p:spPr>
          <a:xfrm>
            <a:off x="4572000" y="977153"/>
            <a:ext cx="4457290" cy="3978088"/>
          </a:xfrm>
          <a:prstGeom prst="rect">
            <a:avLst/>
          </a:prstGeom>
        </p:spPr>
      </p:pic>
      <p:sp>
        <p:nvSpPr>
          <p:cNvPr id="7" name="Text 5">
            <a:extLst>
              <a:ext uri="{FF2B5EF4-FFF2-40B4-BE49-F238E27FC236}">
                <a16:creationId xmlns:a16="http://schemas.microsoft.com/office/drawing/2014/main" id="{FA0646C4-9534-80C3-B058-80848BCB5537}"/>
              </a:ext>
            </a:extLst>
          </p:cNvPr>
          <p:cNvSpPr/>
          <p:nvPr/>
        </p:nvSpPr>
        <p:spPr>
          <a:xfrm>
            <a:off x="213322" y="116540"/>
            <a:ext cx="8549640" cy="484095"/>
          </a:xfrm>
          <a:prstGeom prst="rect">
            <a:avLst/>
          </a:prstGeom>
          <a:ln/>
        </p:spPr>
        <p:style>
          <a:lnRef idx="2">
            <a:schemeClr val="dk1"/>
          </a:lnRef>
          <a:fillRef idx="1">
            <a:schemeClr val="lt1"/>
          </a:fillRef>
          <a:effectRef idx="0">
            <a:schemeClr val="dk1"/>
          </a:effectRef>
          <a:fontRef idx="minor">
            <a:schemeClr val="dk1"/>
          </a:fontRef>
        </p:style>
        <p:txBody>
          <a:bodyPr wrap="square" lIns="0" tIns="0" rIns="0" bIns="0" rtlCol="0" anchor="t"/>
          <a:lstStyle/>
          <a:p>
            <a:pPr marL="0" indent="0" algn="ctr">
              <a:lnSpc>
                <a:spcPts val="3840"/>
              </a:lnSpc>
              <a:buNone/>
            </a:pPr>
            <a:r>
              <a:rPr lang="en-US" sz="2400" b="1" dirty="0">
                <a:solidFill>
                  <a:srgbClr val="81C784"/>
                </a:solidFill>
                <a:latin typeface="Segoe UI" pitchFamily="34" charset="0"/>
                <a:ea typeface="Segoe UI" pitchFamily="34" charset="-122"/>
                <a:cs typeface="Segoe UI" pitchFamily="34" charset="-120"/>
              </a:rPr>
              <a:t> C. Visualization</a:t>
            </a:r>
            <a:endParaRPr lang="en-US" sz="2400" dirty="0"/>
          </a:p>
        </p:txBody>
      </p:sp>
      <p:sp>
        <p:nvSpPr>
          <p:cNvPr id="8" name="TextBox 7">
            <a:extLst>
              <a:ext uri="{FF2B5EF4-FFF2-40B4-BE49-F238E27FC236}">
                <a16:creationId xmlns:a16="http://schemas.microsoft.com/office/drawing/2014/main" id="{086F1BC7-1DB2-B4B1-BF6B-0883939215A6}"/>
              </a:ext>
            </a:extLst>
          </p:cNvPr>
          <p:cNvSpPr txBox="1"/>
          <p:nvPr/>
        </p:nvSpPr>
        <p:spPr>
          <a:xfrm>
            <a:off x="213322" y="631792"/>
            <a:ext cx="1667435"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Python Code </a:t>
            </a:r>
            <a:r>
              <a:rPr lang="en-US" dirty="0"/>
              <a:t>:</a:t>
            </a:r>
          </a:p>
        </p:txBody>
      </p:sp>
    </p:spTree>
    <p:extLst>
      <p:ext uri="{BB962C8B-B14F-4D97-AF65-F5344CB8AC3E}">
        <p14:creationId xmlns:p14="http://schemas.microsoft.com/office/powerpoint/2010/main" val="4690652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D4C163A-E360-A371-F5D4-E14105939EFD}"/>
              </a:ext>
            </a:extLst>
          </p:cNvPr>
          <p:cNvPicPr>
            <a:picLocks noChangeAspect="1"/>
          </p:cNvPicPr>
          <p:nvPr/>
        </p:nvPicPr>
        <p:blipFill>
          <a:blip r:embed="rId2"/>
          <a:stretch>
            <a:fillRect/>
          </a:stretch>
        </p:blipFill>
        <p:spPr>
          <a:xfrm>
            <a:off x="555811" y="394448"/>
            <a:ext cx="8068235" cy="4491318"/>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29423340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5">
            <a:extLst>
              <a:ext uri="{FF2B5EF4-FFF2-40B4-BE49-F238E27FC236}">
                <a16:creationId xmlns:a16="http://schemas.microsoft.com/office/drawing/2014/main" id="{8189480E-BCF0-D745-6A2C-DFA9B4D162F0}"/>
              </a:ext>
            </a:extLst>
          </p:cNvPr>
          <p:cNvSpPr/>
          <p:nvPr/>
        </p:nvSpPr>
        <p:spPr>
          <a:xfrm>
            <a:off x="381000" y="381000"/>
            <a:ext cx="8549640" cy="487660"/>
          </a:xfrm>
          <a:prstGeom prst="rect">
            <a:avLst/>
          </a:prstGeom>
          <a:ln/>
        </p:spPr>
        <p:style>
          <a:lnRef idx="2">
            <a:schemeClr val="dk1"/>
          </a:lnRef>
          <a:fillRef idx="1">
            <a:schemeClr val="lt1"/>
          </a:fillRef>
          <a:effectRef idx="0">
            <a:schemeClr val="dk1"/>
          </a:effectRef>
          <a:fontRef idx="minor">
            <a:schemeClr val="dk1"/>
          </a:fontRef>
        </p:style>
        <p:txBody>
          <a:bodyPr wrap="square" lIns="0" tIns="0" rIns="0" bIns="0" rtlCol="0" anchor="t"/>
          <a:lstStyle/>
          <a:p>
            <a:pPr marL="0" indent="0" algn="ctr">
              <a:lnSpc>
                <a:spcPts val="3840"/>
              </a:lnSpc>
              <a:buNone/>
            </a:pPr>
            <a:r>
              <a:rPr lang="en-US" sz="2400" b="1" dirty="0">
                <a:solidFill>
                  <a:srgbClr val="81C784"/>
                </a:solidFill>
                <a:latin typeface="Segoe UI" pitchFamily="34" charset="0"/>
                <a:ea typeface="Segoe UI" pitchFamily="34" charset="-122"/>
                <a:cs typeface="Segoe UI" pitchFamily="34" charset="-120"/>
              </a:rPr>
              <a:t> C. Visualization</a:t>
            </a:r>
            <a:endParaRPr lang="en-US" sz="2400" dirty="0"/>
          </a:p>
        </p:txBody>
      </p:sp>
      <p:sp>
        <p:nvSpPr>
          <p:cNvPr id="3" name="TextBox 2">
            <a:extLst>
              <a:ext uri="{FF2B5EF4-FFF2-40B4-BE49-F238E27FC236}">
                <a16:creationId xmlns:a16="http://schemas.microsoft.com/office/drawing/2014/main" id="{FF556ABC-7159-5D2F-8EE9-32A4F0FF51DF}"/>
              </a:ext>
            </a:extLst>
          </p:cNvPr>
          <p:cNvSpPr txBox="1"/>
          <p:nvPr/>
        </p:nvSpPr>
        <p:spPr>
          <a:xfrm>
            <a:off x="271632" y="1039906"/>
            <a:ext cx="8764792" cy="4460195"/>
          </a:xfrm>
          <a:prstGeom prst="rect">
            <a:avLst/>
          </a:prstGeom>
          <a:noFill/>
        </p:spPr>
        <p:txBody>
          <a:bodyPr wrap="square" rtlCol="0">
            <a:spAutoFit/>
          </a:bodyPr>
          <a:lstStyle/>
          <a:p>
            <a:r>
              <a:rPr lang="en-US" sz="1200" dirty="0">
                <a:latin typeface="Times New Roman" panose="02020603050405020304" pitchFamily="18" charset="0"/>
                <a:cs typeface="Times New Roman" panose="02020603050405020304" pitchFamily="18" charset="0"/>
              </a:rPr>
              <a:t>For the visualization I chose the following four graphs , which will help me with better insights of entire data and its trends. These graphs help me stick to my project's objective and give me better data interpretation. Further these graphs gave  a direction moving forward with  Project's Objective. </a:t>
            </a:r>
          </a:p>
          <a:p>
            <a:r>
              <a:rPr lang="en-US" sz="1200" b="1" dirty="0">
                <a:solidFill>
                  <a:srgbClr val="FFC000"/>
                </a:solidFill>
                <a:latin typeface="Times New Roman" panose="02020603050405020304" pitchFamily="18" charset="0"/>
                <a:cs typeface="Times New Roman" panose="02020603050405020304" pitchFamily="18" charset="0"/>
              </a:rPr>
              <a:t>1. Motor UPDRS Distribution (Histogram with KDE)</a:t>
            </a:r>
          </a:p>
          <a:p>
            <a:r>
              <a:rPr lang="en-US" sz="1200" dirty="0">
                <a:latin typeface="Times New Roman" panose="02020603050405020304" pitchFamily="18" charset="0"/>
                <a:cs typeface="Times New Roman" panose="02020603050405020304" pitchFamily="18" charset="0"/>
              </a:rPr>
              <a:t>- Shows slightly right-skewed distribution</a:t>
            </a:r>
          </a:p>
          <a:p>
            <a:r>
              <a:rPr lang="en-US" sz="1200" dirty="0">
                <a:latin typeface="Times New Roman" panose="02020603050405020304" pitchFamily="18" charset="0"/>
                <a:cs typeface="Times New Roman" panose="02020603050405020304" pitchFamily="18" charset="0"/>
              </a:rPr>
              <a:t>- Most patients cluster between 15-28 on motor UPDRS scale</a:t>
            </a:r>
          </a:p>
          <a:p>
            <a:pPr marL="171450" indent="-171450">
              <a:buFontTx/>
              <a:buChar char="-"/>
            </a:pPr>
            <a:r>
              <a:rPr lang="en-US" sz="1200" dirty="0">
                <a:latin typeface="Times New Roman" panose="02020603050405020304" pitchFamily="18" charset="0"/>
                <a:cs typeface="Times New Roman" panose="02020603050405020304" pitchFamily="18" charset="0"/>
              </a:rPr>
              <a:t>Mean line (red dashed) at 21.30 indicates central tendency Suggests varying levels of motor impairment across cohort</a:t>
            </a:r>
          </a:p>
          <a:p>
            <a:endParaRPr lang="en-US" sz="1200" dirty="0">
              <a:latin typeface="Times New Roman" panose="02020603050405020304" pitchFamily="18" charset="0"/>
              <a:cs typeface="Times New Roman" panose="02020603050405020304" pitchFamily="18" charset="0"/>
            </a:endParaRPr>
          </a:p>
          <a:p>
            <a:r>
              <a:rPr lang="en-US" sz="1200" b="1" dirty="0">
                <a:solidFill>
                  <a:srgbClr val="FFC000"/>
                </a:solidFill>
                <a:latin typeface="Times New Roman" panose="02020603050405020304" pitchFamily="18" charset="0"/>
                <a:cs typeface="Times New Roman" panose="02020603050405020304" pitchFamily="18" charset="0"/>
              </a:rPr>
              <a:t>2. Correlation Heatmap (Voice Features vs UPDRS)</a:t>
            </a:r>
          </a:p>
          <a:p>
            <a:pPr marL="171450" indent="-171450">
              <a:buFontTx/>
              <a:buChar char="-"/>
            </a:pPr>
            <a:r>
              <a:rPr lang="en-US" sz="1200" dirty="0">
                <a:latin typeface="Times New Roman" panose="02020603050405020304" pitchFamily="18" charset="0"/>
                <a:cs typeface="Times New Roman" panose="02020603050405020304" pitchFamily="18" charset="0"/>
              </a:rPr>
              <a:t>Strong correlation between </a:t>
            </a:r>
            <a:r>
              <a:rPr lang="en-US" sz="1200" dirty="0" err="1">
                <a:latin typeface="Times New Roman" panose="02020603050405020304" pitchFamily="18" charset="0"/>
                <a:cs typeface="Times New Roman" panose="02020603050405020304" pitchFamily="18" charset="0"/>
              </a:rPr>
              <a:t>motor_UPDRS</a:t>
            </a:r>
            <a:r>
              <a:rPr lang="en-US" sz="1200" dirty="0">
                <a:latin typeface="Times New Roman" panose="02020603050405020304" pitchFamily="18" charset="0"/>
                <a:cs typeface="Times New Roman" panose="02020603050405020304" pitchFamily="18" charset="0"/>
              </a:rPr>
              <a:t> and </a:t>
            </a:r>
            <a:r>
              <a:rPr lang="en-US" sz="1200" dirty="0" err="1">
                <a:latin typeface="Times New Roman" panose="02020603050405020304" pitchFamily="18" charset="0"/>
                <a:cs typeface="Times New Roman" panose="02020603050405020304" pitchFamily="18" charset="0"/>
              </a:rPr>
              <a:t>total_UPDRS</a:t>
            </a:r>
            <a:r>
              <a:rPr lang="en-US" sz="1200" dirty="0">
                <a:latin typeface="Times New Roman" panose="02020603050405020304" pitchFamily="18" charset="0"/>
                <a:cs typeface="Times New Roman" panose="02020603050405020304" pitchFamily="18" charset="0"/>
              </a:rPr>
              <a:t> (0.95)</a:t>
            </a:r>
          </a:p>
          <a:p>
            <a:pPr marL="171450" indent="-171450">
              <a:buFont typeface="Arial" panose="020B0604020202020204" pitchFamily="34" charset="0"/>
              <a:buChar char="•"/>
            </a:pPr>
            <a:r>
              <a:rPr lang="en-US" sz="1200" b="1" dirty="0">
                <a:solidFill>
                  <a:srgbClr val="FFB74D"/>
                </a:solidFill>
                <a:latin typeface="Times New Roman" panose="02020603050405020304" pitchFamily="18" charset="0"/>
                <a:ea typeface="Segoe UI" pitchFamily="34" charset="-122"/>
                <a:cs typeface="Times New Roman" panose="02020603050405020304" pitchFamily="18" charset="0"/>
              </a:rPr>
              <a:t>UPDRS </a:t>
            </a:r>
            <a:r>
              <a:rPr lang="en-US" sz="1200" dirty="0">
                <a:solidFill>
                  <a:srgbClr val="F5F5F5"/>
                </a:solidFill>
                <a:latin typeface="Times New Roman" panose="02020603050405020304" pitchFamily="18" charset="0"/>
                <a:ea typeface="Segoe UI" pitchFamily="34" charset="-122"/>
                <a:cs typeface="Times New Roman" panose="02020603050405020304" pitchFamily="18" charset="0"/>
              </a:rPr>
              <a:t>r ≈ 0.95 → </a:t>
            </a:r>
            <a:r>
              <a:rPr lang="en-US" sz="1200" i="1" dirty="0">
                <a:solidFill>
                  <a:srgbClr val="81C784"/>
                </a:solidFill>
                <a:latin typeface="Times New Roman" panose="02020603050405020304" pitchFamily="18" charset="0"/>
                <a:ea typeface="Segoe UI" pitchFamily="34" charset="-122"/>
                <a:cs typeface="Times New Roman" panose="02020603050405020304" pitchFamily="18" charset="0"/>
              </a:rPr>
              <a:t>Strong positive</a:t>
            </a:r>
          </a:p>
          <a:p>
            <a:pPr marL="171450" indent="-171450">
              <a:buFont typeface="Arial" panose="020B0604020202020204" pitchFamily="34" charset="0"/>
              <a:buChar char="•"/>
            </a:pPr>
            <a:endParaRPr lang="en-US" sz="1200" dirty="0">
              <a:latin typeface="Times New Roman" panose="02020603050405020304" pitchFamily="18" charset="0"/>
              <a:cs typeface="Times New Roman" panose="02020603050405020304" pitchFamily="18" charset="0"/>
            </a:endParaRPr>
          </a:p>
          <a:p>
            <a:pPr marL="171450" indent="-171450">
              <a:buFontTx/>
              <a:buChar char="-"/>
            </a:pPr>
            <a:r>
              <a:rPr lang="en-US" sz="1200" dirty="0">
                <a:latin typeface="Times New Roman" panose="02020603050405020304" pitchFamily="18" charset="0"/>
                <a:cs typeface="Times New Roman" panose="02020603050405020304" pitchFamily="18" charset="0"/>
              </a:rPr>
              <a:t>PPE (nonlinear frequency variation) shows moderate positive correlation with UPDRS</a:t>
            </a:r>
          </a:p>
          <a:p>
            <a:pPr marL="171450" indent="-171450">
              <a:buFont typeface="Arial" panose="020B0604020202020204" pitchFamily="34" charset="0"/>
              <a:buChar char="•"/>
            </a:pPr>
            <a:r>
              <a:rPr lang="en-US" sz="1200" b="1" dirty="0">
                <a:solidFill>
                  <a:srgbClr val="FFB74D"/>
                </a:solidFill>
                <a:latin typeface="Times New Roman" panose="02020603050405020304" pitchFamily="18" charset="0"/>
                <a:ea typeface="Segoe UI" pitchFamily="34" charset="-122"/>
                <a:cs typeface="Times New Roman" panose="02020603050405020304" pitchFamily="18" charset="0"/>
              </a:rPr>
              <a:t>PPE</a:t>
            </a:r>
            <a:r>
              <a:rPr lang="en-US" sz="1200" dirty="0">
                <a:solidFill>
                  <a:srgbClr val="F5F5F5"/>
                </a:solidFill>
                <a:latin typeface="Times New Roman" panose="02020603050405020304" pitchFamily="18" charset="0"/>
                <a:ea typeface="Segoe UI" pitchFamily="34" charset="-122"/>
                <a:cs typeface="Times New Roman" panose="02020603050405020304" pitchFamily="18" charset="0"/>
              </a:rPr>
              <a:t> (pitch period entropy): r ≈ 0.25–0.35 → </a:t>
            </a:r>
            <a:r>
              <a:rPr lang="en-US" sz="1200" i="1" dirty="0">
                <a:solidFill>
                  <a:srgbClr val="81C784"/>
                </a:solidFill>
                <a:latin typeface="Times New Roman" panose="02020603050405020304" pitchFamily="18" charset="0"/>
                <a:ea typeface="Segoe UI" pitchFamily="34" charset="-122"/>
                <a:cs typeface="Times New Roman" panose="02020603050405020304" pitchFamily="18" charset="0"/>
              </a:rPr>
              <a:t>moderate positive</a:t>
            </a:r>
          </a:p>
          <a:p>
            <a:pPr marL="171450" indent="-171450">
              <a:buFont typeface="Arial" panose="020B0604020202020204" pitchFamily="34" charset="0"/>
              <a:buChar char="•"/>
            </a:pPr>
            <a:endParaRPr lang="en-US" sz="1200" dirty="0">
              <a:latin typeface="Times New Roman" panose="02020603050405020304" pitchFamily="18" charset="0"/>
              <a:cs typeface="Times New Roman" panose="02020603050405020304" pitchFamily="18" charset="0"/>
            </a:endParaRPr>
          </a:p>
          <a:p>
            <a:pPr marL="171450" indent="-171450">
              <a:buFontTx/>
              <a:buChar char="-"/>
            </a:pPr>
            <a:r>
              <a:rPr lang="en-US" sz="1200" dirty="0">
                <a:latin typeface="Times New Roman" panose="02020603050405020304" pitchFamily="18" charset="0"/>
                <a:cs typeface="Times New Roman" panose="02020603050405020304" pitchFamily="18" charset="0"/>
              </a:rPr>
              <a:t>HNR (harmonic-to-noise ratio) shows slight negative correlation (-0.16)</a:t>
            </a:r>
          </a:p>
          <a:p>
            <a:pPr marL="171450" indent="-171450">
              <a:buFont typeface="Arial" panose="020B0604020202020204" pitchFamily="34" charset="0"/>
              <a:buChar char="•"/>
            </a:pPr>
            <a:r>
              <a:rPr lang="en-US" sz="1200" b="1" dirty="0">
                <a:solidFill>
                  <a:srgbClr val="FFB74D"/>
                </a:solidFill>
                <a:latin typeface="Times New Roman" panose="02020603050405020304" pitchFamily="18" charset="0"/>
                <a:ea typeface="Segoe UI" pitchFamily="34" charset="-122"/>
                <a:cs typeface="Times New Roman" panose="02020603050405020304" pitchFamily="18" charset="0"/>
              </a:rPr>
              <a:t>HNR</a:t>
            </a:r>
            <a:r>
              <a:rPr lang="en-US" sz="1200" dirty="0">
                <a:solidFill>
                  <a:srgbClr val="F5F5F5"/>
                </a:solidFill>
                <a:latin typeface="Times New Roman" panose="02020603050405020304" pitchFamily="18" charset="0"/>
                <a:ea typeface="Segoe UI" pitchFamily="34" charset="-122"/>
                <a:cs typeface="Times New Roman" panose="02020603050405020304" pitchFamily="18" charset="0"/>
              </a:rPr>
              <a:t> (harmonic-to-noise): r ≈ −0.16 → </a:t>
            </a:r>
            <a:r>
              <a:rPr lang="en-US" sz="1200" i="1" dirty="0">
                <a:solidFill>
                  <a:srgbClr val="81C784"/>
                </a:solidFill>
                <a:latin typeface="Times New Roman" panose="02020603050405020304" pitchFamily="18" charset="0"/>
                <a:ea typeface="Segoe UI" pitchFamily="34" charset="-122"/>
                <a:cs typeface="Times New Roman" panose="02020603050405020304" pitchFamily="18" charset="0"/>
              </a:rPr>
              <a:t>slight negative</a:t>
            </a:r>
          </a:p>
          <a:p>
            <a:pPr marL="171450" indent="-171450">
              <a:buFont typeface="Arial" panose="020B0604020202020204" pitchFamily="34" charset="0"/>
              <a:buChar char="•"/>
            </a:pPr>
            <a:endParaRPr lang="en-US" sz="1200" dirty="0">
              <a:latin typeface="Times New Roman" panose="02020603050405020304" pitchFamily="18" charset="0"/>
              <a:cs typeface="Times New Roman" panose="02020603050405020304" pitchFamily="18" charset="0"/>
            </a:endParaRPr>
          </a:p>
          <a:p>
            <a:pPr marL="171450" indent="-171450">
              <a:buFontTx/>
              <a:buChar char="-"/>
            </a:pPr>
            <a:r>
              <a:rPr lang="en-US" sz="1200" dirty="0">
                <a:latin typeface="Times New Roman" panose="02020603050405020304" pitchFamily="18" charset="0"/>
                <a:cs typeface="Times New Roman" panose="02020603050405020304" pitchFamily="18" charset="0"/>
              </a:rPr>
              <a:t>Multiple jitter and shimmer measures are highly intercorrelated (multicollinearity concern)</a:t>
            </a:r>
          </a:p>
          <a:p>
            <a:pPr marL="171450" indent="-171450">
              <a:lnSpc>
                <a:spcPts val="1920"/>
              </a:lnSpc>
              <a:buSzPct val="100000"/>
              <a:buFont typeface="Arial" panose="020B0604020202020204" pitchFamily="34" charset="0"/>
              <a:buChar char="•"/>
            </a:pPr>
            <a:r>
              <a:rPr lang="en-US" sz="1200" b="1" dirty="0">
                <a:solidFill>
                  <a:srgbClr val="FFB74D"/>
                </a:solidFill>
                <a:latin typeface="Times New Roman" panose="02020603050405020304" pitchFamily="18" charset="0"/>
                <a:ea typeface="Segoe UI" pitchFamily="34" charset="-122"/>
                <a:cs typeface="Times New Roman" panose="02020603050405020304" pitchFamily="18" charset="0"/>
              </a:rPr>
              <a:t>Jitter</a:t>
            </a:r>
            <a:r>
              <a:rPr lang="en-US" sz="1200" dirty="0">
                <a:solidFill>
                  <a:srgbClr val="F5F5F5"/>
                </a:solidFill>
                <a:latin typeface="Times New Roman" panose="02020603050405020304" pitchFamily="18" charset="0"/>
                <a:ea typeface="Segoe UI" pitchFamily="34" charset="-122"/>
                <a:cs typeface="Times New Roman" panose="02020603050405020304" pitchFamily="18" charset="0"/>
              </a:rPr>
              <a:t> measures (pitch variation): r ≈ 0.15–0.22 → </a:t>
            </a:r>
            <a:r>
              <a:rPr lang="en-US" sz="1200" i="1" dirty="0">
                <a:solidFill>
                  <a:srgbClr val="81C784"/>
                </a:solidFill>
                <a:latin typeface="Times New Roman" panose="02020603050405020304" pitchFamily="18" charset="0"/>
                <a:ea typeface="Segoe UI" pitchFamily="34" charset="-122"/>
                <a:cs typeface="Times New Roman" panose="02020603050405020304" pitchFamily="18" charset="0"/>
              </a:rPr>
              <a:t>weak-to-moderate</a:t>
            </a:r>
            <a:endParaRPr lang="en-US" sz="1200" dirty="0">
              <a:latin typeface="Times New Roman" panose="02020603050405020304" pitchFamily="18" charset="0"/>
              <a:cs typeface="Times New Roman" panose="02020603050405020304" pitchFamily="18" charset="0"/>
            </a:endParaRPr>
          </a:p>
          <a:p>
            <a:pPr marL="171450" indent="-171450">
              <a:buFontTx/>
              <a:buChar char="-"/>
            </a:pPr>
            <a:endParaRPr lang="en-US" sz="1100" dirty="0">
              <a:latin typeface="Times New Roman" panose="02020603050405020304" pitchFamily="18" charset="0"/>
              <a:cs typeface="Times New Roman" panose="02020603050405020304" pitchFamily="18" charset="0"/>
            </a:endParaRPr>
          </a:p>
          <a:p>
            <a:endParaRPr lang="en-US" sz="1100" dirty="0">
              <a:latin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38966100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952B28B-D353-402A-55B4-069886382E32}"/>
              </a:ext>
            </a:extLst>
          </p:cNvPr>
          <p:cNvSpPr txBox="1"/>
          <p:nvPr/>
        </p:nvSpPr>
        <p:spPr>
          <a:xfrm>
            <a:off x="343350" y="878541"/>
            <a:ext cx="8379309" cy="2585323"/>
          </a:xfrm>
          <a:prstGeom prst="rect">
            <a:avLst/>
          </a:prstGeom>
          <a:noFill/>
        </p:spPr>
        <p:txBody>
          <a:bodyPr wrap="square" rtlCol="0">
            <a:spAutoFit/>
          </a:bodyPr>
          <a:lstStyle/>
          <a:p>
            <a:r>
              <a:rPr lang="en-US" sz="1200" b="1" dirty="0">
                <a:solidFill>
                  <a:srgbClr val="FFC000"/>
                </a:solidFill>
                <a:latin typeface="Times New Roman" panose="02020603050405020304" pitchFamily="18" charset="0"/>
                <a:cs typeface="Times New Roman" panose="02020603050405020304" pitchFamily="18" charset="0"/>
              </a:rPr>
              <a:t>3. Motor UPDRS Progression Over Time (Line Plot)</a:t>
            </a:r>
          </a:p>
          <a:p>
            <a:r>
              <a:rPr lang="en-US" sz="1200" dirty="0">
                <a:latin typeface="Times New Roman" panose="02020603050405020304" pitchFamily="18" charset="0"/>
                <a:cs typeface="Times New Roman" panose="02020603050405020304" pitchFamily="18" charset="0"/>
              </a:rPr>
              <a:t>- Sampled 5 patients to visualize disease progression</a:t>
            </a:r>
          </a:p>
          <a:p>
            <a:r>
              <a:rPr lang="en-US" sz="1200" dirty="0">
                <a:latin typeface="Times New Roman" panose="02020603050405020304" pitchFamily="18" charset="0"/>
                <a:cs typeface="Times New Roman" panose="02020603050405020304" pitchFamily="18" charset="0"/>
              </a:rPr>
              <a:t>- Most patients show gradual increase in UPDRS scores over 6-month period</a:t>
            </a:r>
          </a:p>
          <a:p>
            <a:r>
              <a:rPr lang="en-US" sz="1200" dirty="0">
                <a:latin typeface="Times New Roman" panose="02020603050405020304" pitchFamily="18" charset="0"/>
                <a:cs typeface="Times New Roman" panose="02020603050405020304" pitchFamily="18" charset="0"/>
              </a:rPr>
              <a:t>- Individual variability in progression rates</a:t>
            </a:r>
          </a:p>
          <a:p>
            <a:pPr marL="171450" indent="-171450">
              <a:buFontTx/>
              <a:buChar char="-"/>
            </a:pPr>
            <a:r>
              <a:rPr lang="en-US" sz="1200" dirty="0">
                <a:latin typeface="Times New Roman" panose="02020603050405020304" pitchFamily="18" charset="0"/>
                <a:cs typeface="Times New Roman" panose="02020603050405020304" pitchFamily="18" charset="0"/>
              </a:rPr>
              <a:t>Confirms time-series structure in data</a:t>
            </a:r>
          </a:p>
          <a:p>
            <a:pPr marL="171450" indent="-171450">
              <a:buFontTx/>
              <a:buChar char="-"/>
            </a:pPr>
            <a:endParaRPr lang="en-US" sz="1200" dirty="0">
              <a:latin typeface="Times New Roman" panose="02020603050405020304" pitchFamily="18" charset="0"/>
              <a:cs typeface="Times New Roman" panose="02020603050405020304" pitchFamily="18" charset="0"/>
            </a:endParaRPr>
          </a:p>
          <a:p>
            <a:pPr marL="171450" indent="-171450">
              <a:buFontTx/>
              <a:buChar char="-"/>
            </a:pPr>
            <a:endParaRPr lang="en-US" sz="1200" dirty="0">
              <a:latin typeface="Times New Roman" panose="02020603050405020304" pitchFamily="18" charset="0"/>
              <a:cs typeface="Times New Roman" panose="02020603050405020304" pitchFamily="18" charset="0"/>
            </a:endParaRPr>
          </a:p>
          <a:p>
            <a:r>
              <a:rPr lang="en-US" sz="1200" b="1" dirty="0">
                <a:solidFill>
                  <a:srgbClr val="FFC000"/>
                </a:solidFill>
                <a:latin typeface="Times New Roman" panose="02020603050405020304" pitchFamily="18" charset="0"/>
                <a:cs typeface="Times New Roman" panose="02020603050405020304" pitchFamily="18" charset="0"/>
              </a:rPr>
              <a:t>4. Motor UPDRS by Gender (Box Plot)</a:t>
            </a:r>
          </a:p>
          <a:p>
            <a:r>
              <a:rPr lang="en-US" sz="1200" dirty="0">
                <a:latin typeface="Times New Roman" panose="02020603050405020304" pitchFamily="18" charset="0"/>
                <a:cs typeface="Times New Roman" panose="02020603050405020304" pitchFamily="18" charset="0"/>
              </a:rPr>
              <a:t>- Male mean motor UPDRS: 21.47</a:t>
            </a:r>
          </a:p>
          <a:p>
            <a:r>
              <a:rPr lang="en-US" sz="1200" dirty="0">
                <a:latin typeface="Times New Roman" panose="02020603050405020304" pitchFamily="18" charset="0"/>
                <a:cs typeface="Times New Roman" panose="02020603050405020304" pitchFamily="18" charset="0"/>
              </a:rPr>
              <a:t>- Female mean motor UPDRS: 20.92</a:t>
            </a:r>
          </a:p>
          <a:p>
            <a:r>
              <a:rPr lang="en-US" sz="1200" dirty="0">
                <a:latin typeface="Times New Roman" panose="02020603050405020304" pitchFamily="18" charset="0"/>
                <a:cs typeface="Times New Roman" panose="02020603050405020304" pitchFamily="18" charset="0"/>
              </a:rPr>
              <a:t>- Minimal difference (0.54 points) - gender may not be a strong predictor</a:t>
            </a:r>
          </a:p>
          <a:p>
            <a:pPr marL="171450" indent="-171450">
              <a:buFontTx/>
              <a:buChar char="-"/>
            </a:pPr>
            <a:r>
              <a:rPr lang="en-US" sz="1200" dirty="0">
                <a:latin typeface="Times New Roman" panose="02020603050405020304" pitchFamily="18" charset="0"/>
                <a:cs typeface="Times New Roman" panose="02020603050405020304" pitchFamily="18" charset="0"/>
              </a:rPr>
              <a:t>Similar spread (IQR) between both groups</a:t>
            </a:r>
          </a:p>
          <a:p>
            <a:endParaRPr lang="en-US" dirty="0"/>
          </a:p>
        </p:txBody>
      </p:sp>
    </p:spTree>
    <p:extLst>
      <p:ext uri="{BB962C8B-B14F-4D97-AF65-F5344CB8AC3E}">
        <p14:creationId xmlns:p14="http://schemas.microsoft.com/office/powerpoint/2010/main" val="6948733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9" name="Text 5">
            <a:extLst>
              <a:ext uri="{FF2B5EF4-FFF2-40B4-BE49-F238E27FC236}">
                <a16:creationId xmlns:a16="http://schemas.microsoft.com/office/drawing/2014/main" id="{E94D2A29-BB44-C78A-8B54-F516C9933034}"/>
              </a:ext>
            </a:extLst>
          </p:cNvPr>
          <p:cNvSpPr/>
          <p:nvPr/>
        </p:nvSpPr>
        <p:spPr>
          <a:xfrm>
            <a:off x="297180" y="289570"/>
            <a:ext cx="8549640" cy="487660"/>
          </a:xfrm>
          <a:prstGeom prst="rect">
            <a:avLst/>
          </a:prstGeom>
          <a:ln/>
        </p:spPr>
        <p:style>
          <a:lnRef idx="2">
            <a:schemeClr val="dk1"/>
          </a:lnRef>
          <a:fillRef idx="1">
            <a:schemeClr val="lt1"/>
          </a:fillRef>
          <a:effectRef idx="0">
            <a:schemeClr val="dk1"/>
          </a:effectRef>
          <a:fontRef idx="minor">
            <a:schemeClr val="dk1"/>
          </a:fontRef>
        </p:style>
        <p:txBody>
          <a:bodyPr wrap="square" lIns="0" tIns="0" rIns="0" bIns="0" rtlCol="0" anchor="t"/>
          <a:lstStyle/>
          <a:p>
            <a:pPr marL="0" indent="0" algn="ctr">
              <a:lnSpc>
                <a:spcPts val="3840"/>
              </a:lnSpc>
              <a:buNone/>
            </a:pPr>
            <a:r>
              <a:rPr lang="en-US" sz="2400" b="1" dirty="0">
                <a:solidFill>
                  <a:srgbClr val="81C784"/>
                </a:solidFill>
                <a:latin typeface="Segoe UI" pitchFamily="34" charset="0"/>
                <a:ea typeface="Segoe UI" pitchFamily="34" charset="-122"/>
                <a:cs typeface="Segoe UI" pitchFamily="34" charset="-120"/>
              </a:rPr>
              <a:t> D. Key Findings</a:t>
            </a:r>
            <a:endParaRPr lang="en-US" sz="2400" dirty="0"/>
          </a:p>
        </p:txBody>
      </p:sp>
      <p:sp>
        <p:nvSpPr>
          <p:cNvPr id="15" name="TextBox 14">
            <a:extLst>
              <a:ext uri="{FF2B5EF4-FFF2-40B4-BE49-F238E27FC236}">
                <a16:creationId xmlns:a16="http://schemas.microsoft.com/office/drawing/2014/main" id="{D25E7C15-A2C9-FC5B-6C29-6F423CDFCD86}"/>
              </a:ext>
            </a:extLst>
          </p:cNvPr>
          <p:cNvSpPr txBox="1"/>
          <p:nvPr/>
        </p:nvSpPr>
        <p:spPr>
          <a:xfrm>
            <a:off x="242719" y="1004047"/>
            <a:ext cx="8658561" cy="3785652"/>
          </a:xfrm>
          <a:prstGeom prst="rect">
            <a:avLst/>
          </a:prstGeom>
          <a:noFill/>
        </p:spPr>
        <p:txBody>
          <a:bodyPr wrap="square" rtlCol="0">
            <a:spAutoFit/>
          </a:bodyPr>
          <a:lstStyle/>
          <a:p>
            <a:r>
              <a:rPr lang="en-US" sz="1200" dirty="0">
                <a:latin typeface="Times New Roman" panose="02020603050405020304" pitchFamily="18" charset="0"/>
                <a:cs typeface="Times New Roman" panose="02020603050405020304" pitchFamily="18" charset="0"/>
              </a:rPr>
              <a:t>The Key Findings found from this analysis are as follows:</a:t>
            </a:r>
          </a:p>
          <a:p>
            <a:endParaRPr lang="en-US" sz="1200" dirty="0">
              <a:latin typeface="Times New Roman" panose="02020603050405020304" pitchFamily="18" charset="0"/>
              <a:cs typeface="Times New Roman" panose="02020603050405020304" pitchFamily="18" charset="0"/>
            </a:endParaRPr>
          </a:p>
          <a:p>
            <a:r>
              <a:rPr lang="en-US" sz="1200" b="1" dirty="0">
                <a:solidFill>
                  <a:srgbClr val="FFC000"/>
                </a:solidFill>
                <a:latin typeface="Times New Roman" panose="02020603050405020304" pitchFamily="18" charset="0"/>
                <a:cs typeface="Times New Roman" panose="02020603050405020304" pitchFamily="18" charset="0"/>
              </a:rPr>
              <a:t>1. Data Quality is Excellent- </a:t>
            </a:r>
            <a:r>
              <a:rPr lang="en-US" sz="1200" dirty="0">
                <a:latin typeface="Times New Roman" panose="02020603050405020304" pitchFamily="18" charset="0"/>
                <a:cs typeface="Times New Roman" panose="02020603050405020304" pitchFamily="18" charset="0"/>
              </a:rPr>
              <a:t>The dataset is remarkably clean with no missing values, no duplicates, and consistent formatting. This allows me to focus on modeling rather than spending excessive time on data cleaning. The UCI repository documentation matches the actual data structure perfectly.</a:t>
            </a:r>
          </a:p>
          <a:p>
            <a:endParaRPr lang="en-US" sz="1200" dirty="0">
              <a:latin typeface="Times New Roman" panose="02020603050405020304" pitchFamily="18" charset="0"/>
              <a:cs typeface="Times New Roman" panose="02020603050405020304" pitchFamily="18" charset="0"/>
            </a:endParaRPr>
          </a:p>
          <a:p>
            <a:r>
              <a:rPr lang="en-US" sz="1200" b="1" dirty="0">
                <a:solidFill>
                  <a:srgbClr val="FFC000"/>
                </a:solidFill>
                <a:latin typeface="Times New Roman" panose="02020603050405020304" pitchFamily="18" charset="0"/>
                <a:cs typeface="Times New Roman" panose="02020603050405020304" pitchFamily="18" charset="0"/>
              </a:rPr>
              <a:t> 2. Target Variable Shows Good Variability- </a:t>
            </a:r>
            <a:r>
              <a:rPr lang="en-US" sz="1200" dirty="0">
                <a:latin typeface="Times New Roman" panose="02020603050405020304" pitchFamily="18" charset="0"/>
                <a:cs typeface="Times New Roman" panose="02020603050405020304" pitchFamily="18" charset="0"/>
              </a:rPr>
              <a:t>Motor UPDRS scores range from 5 to 39.5, with a mean of 21.3 and standard deviation of 8.1. This variability is good for regression modeling—there is sufficient spread to learn meaningful patterns without extreme outliers dominating the predictions.</a:t>
            </a:r>
          </a:p>
          <a:p>
            <a:endParaRPr lang="en-US" sz="1200" dirty="0">
              <a:latin typeface="Times New Roman" panose="02020603050405020304" pitchFamily="18" charset="0"/>
              <a:cs typeface="Times New Roman" panose="02020603050405020304" pitchFamily="18" charset="0"/>
            </a:endParaRPr>
          </a:p>
          <a:p>
            <a:r>
              <a:rPr lang="en-US" sz="1200" b="1" dirty="0">
                <a:solidFill>
                  <a:srgbClr val="FFC000"/>
                </a:solidFill>
                <a:latin typeface="Times New Roman" panose="02020603050405020304" pitchFamily="18" charset="0"/>
                <a:cs typeface="Times New Roman" panose="02020603050405020304" pitchFamily="18" charset="0"/>
              </a:rPr>
              <a:t>3. Voice Features Correlate Moderately with Disease Severity- </a:t>
            </a:r>
            <a:r>
              <a:rPr lang="en-US" sz="1200" dirty="0">
                <a:latin typeface="Times New Roman" panose="02020603050405020304" pitchFamily="18" charset="0"/>
                <a:cs typeface="Times New Roman" panose="02020603050405020304" pitchFamily="18" charset="0"/>
              </a:rPr>
              <a:t>The correlation heatmap reveals that voice features like PPE, Jitter, and Shimmer show moderate correlations with UPDRS scores. This supports the premise that voice recordings can track Parkinson's progression. However, correlations are not extremely strong (mostly 0.1-0.3 range), suggesting that regression models will need to capture complex, nonlinear patterns.</a:t>
            </a:r>
          </a:p>
          <a:p>
            <a:endParaRPr lang="en-US" sz="1200" dirty="0">
              <a:latin typeface="Times New Roman" panose="02020603050405020304" pitchFamily="18" charset="0"/>
              <a:cs typeface="Times New Roman" panose="02020603050405020304" pitchFamily="18" charset="0"/>
            </a:endParaRPr>
          </a:p>
          <a:p>
            <a:r>
              <a:rPr lang="en-US" sz="1200" b="1" dirty="0">
                <a:solidFill>
                  <a:srgbClr val="FFC000"/>
                </a:solidFill>
                <a:latin typeface="Times New Roman" panose="02020603050405020304" pitchFamily="18" charset="0"/>
                <a:cs typeface="Times New Roman" panose="02020603050405020304" pitchFamily="18" charset="0"/>
              </a:rPr>
              <a:t>4. Multicollinearity is Present- </a:t>
            </a:r>
            <a:r>
              <a:rPr lang="en-US" sz="1200" dirty="0">
                <a:latin typeface="Times New Roman" panose="02020603050405020304" pitchFamily="18" charset="0"/>
                <a:cs typeface="Times New Roman" panose="02020603050405020304" pitchFamily="18" charset="0"/>
              </a:rPr>
              <a:t>Many voice features are highly correlated with each other (</a:t>
            </a:r>
            <a:r>
              <a:rPr lang="en-US" sz="1200" dirty="0" err="1">
                <a:latin typeface="Times New Roman" panose="02020603050405020304" pitchFamily="18" charset="0"/>
                <a:cs typeface="Times New Roman" panose="02020603050405020304" pitchFamily="18" charset="0"/>
              </a:rPr>
              <a:t>e.g.,Jitter</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Jitter:RAP</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Jitter:DDP</a:t>
            </a:r>
            <a:r>
              <a:rPr lang="en-US" sz="1200" dirty="0">
                <a:latin typeface="Times New Roman" panose="02020603050405020304" pitchFamily="18" charset="0"/>
                <a:cs typeface="Times New Roman" panose="02020603050405020304" pitchFamily="18" charset="0"/>
              </a:rPr>
              <a:t> all measure pitch variation). This multicollinearity could cause issues for linear regression models. We will need to address this through:</a:t>
            </a:r>
          </a:p>
          <a:p>
            <a:r>
              <a:rPr lang="en-US" sz="1200" dirty="0">
                <a:latin typeface="Times New Roman" panose="02020603050405020304" pitchFamily="18" charset="0"/>
                <a:cs typeface="Times New Roman" panose="02020603050405020304" pitchFamily="18" charset="0"/>
              </a:rPr>
              <a:t>- Regularization (Ridge/Lasso regression)</a:t>
            </a:r>
          </a:p>
          <a:p>
            <a:r>
              <a:rPr lang="en-US" sz="1200" dirty="0">
                <a:latin typeface="Times New Roman" panose="02020603050405020304" pitchFamily="18" charset="0"/>
                <a:cs typeface="Times New Roman" panose="02020603050405020304" pitchFamily="18" charset="0"/>
              </a:rPr>
              <a:t>- Feature selection (drop redundant features)</a:t>
            </a:r>
          </a:p>
          <a:p>
            <a:r>
              <a:rPr lang="en-US" sz="1200" dirty="0">
                <a:latin typeface="Times New Roman" panose="02020603050405020304" pitchFamily="18" charset="0"/>
                <a:cs typeface="Times New Roman" panose="02020603050405020304" pitchFamily="18" charset="0"/>
              </a:rPr>
              <a:t>- Dimensionality reduction (PCA)</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A66E4D9-06C1-B850-84CF-615AA6A2B240}"/>
              </a:ext>
            </a:extLst>
          </p:cNvPr>
          <p:cNvSpPr txBox="1"/>
          <p:nvPr/>
        </p:nvSpPr>
        <p:spPr>
          <a:xfrm>
            <a:off x="726141" y="627529"/>
            <a:ext cx="7404847" cy="221599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C000"/>
                </a:solidFill>
                <a:effectLst/>
                <a:uLnTx/>
                <a:uFillTx/>
                <a:latin typeface="Times New Roman" panose="02020603050405020304" pitchFamily="18" charset="0"/>
                <a:ea typeface="+mn-ea"/>
                <a:cs typeface="Times New Roman" panose="02020603050405020304" pitchFamily="18" charset="0"/>
              </a:rPr>
              <a:t>5. Disease Progression is Evident- </a:t>
            </a:r>
            <a:r>
              <a:rPr kumimoji="0" lang="en-US" sz="1200" b="0"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rPr>
              <a:t>The time-series plot confirms that UPDRS scores generally increase over the 6-month recording period, consistent with Parkinson's being a progressive disease. This validates the dataset and suggests that time-series modeling approaches could be explored in future work (though I will keep it simple for this project).</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dirty="0">
              <a:solidFill>
                <a:prstClr val="white"/>
              </a:solidFill>
              <a:latin typeface="Times New Roman" panose="02020603050405020304" pitchFamily="18" charset="0"/>
              <a:cs typeface="Times New Roman" panose="02020603050405020304" pitchFamily="18" charset="0"/>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C000"/>
                </a:solidFill>
                <a:effectLst/>
                <a:uLnTx/>
                <a:uFillTx/>
                <a:latin typeface="Times New Roman" panose="02020603050405020304" pitchFamily="18" charset="0"/>
                <a:ea typeface="+mn-ea"/>
                <a:cs typeface="Times New Roman" panose="02020603050405020304" pitchFamily="18" charset="0"/>
              </a:rPr>
              <a:t>6. Gender Differences are Minimal- </a:t>
            </a:r>
            <a:r>
              <a:rPr kumimoji="0" lang="en-US" sz="1200" b="0"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rPr>
              <a:t>Male and female patients show nearly identical motor UPDRS distributions (difference of 0.54 points). This suggests gender may not be a critical predictor in the final model, though I will keep it in the feature set and let the model decide.</a:t>
            </a:r>
          </a:p>
          <a:p>
            <a:endParaRPr lang="en-US" dirty="0"/>
          </a:p>
        </p:txBody>
      </p:sp>
    </p:spTree>
    <p:extLst>
      <p:ext uri="{BB962C8B-B14F-4D97-AF65-F5344CB8AC3E}">
        <p14:creationId xmlns:p14="http://schemas.microsoft.com/office/powerpoint/2010/main" val="179205122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ext 0"/>
          <p:cNvSpPr/>
          <p:nvPr/>
        </p:nvSpPr>
        <p:spPr>
          <a:xfrm>
            <a:off x="381000" y="381000"/>
            <a:ext cx="8549640" cy="487660"/>
          </a:xfrm>
          <a:prstGeom prst="rect">
            <a:avLst/>
          </a:prstGeom>
          <a:ln/>
        </p:spPr>
        <p:style>
          <a:lnRef idx="2">
            <a:schemeClr val="dk1"/>
          </a:lnRef>
          <a:fillRef idx="1">
            <a:schemeClr val="lt1"/>
          </a:fillRef>
          <a:effectRef idx="0">
            <a:schemeClr val="dk1"/>
          </a:effectRef>
          <a:fontRef idx="minor">
            <a:schemeClr val="dk1"/>
          </a:fontRef>
        </p:style>
        <p:txBody>
          <a:bodyPr wrap="square" lIns="0" tIns="0" rIns="0" bIns="0" rtlCol="0" anchor="t"/>
          <a:lstStyle/>
          <a:p>
            <a:pPr marL="0" indent="0" algn="ctr">
              <a:lnSpc>
                <a:spcPts val="3840"/>
              </a:lnSpc>
              <a:buNone/>
            </a:pPr>
            <a:r>
              <a:rPr lang="en-US" sz="2400" b="1" dirty="0">
                <a:solidFill>
                  <a:srgbClr val="81C784"/>
                </a:solidFill>
                <a:latin typeface="Segoe UI" pitchFamily="34" charset="0"/>
                <a:ea typeface="Segoe UI" pitchFamily="34" charset="-122"/>
                <a:cs typeface="Segoe UI" pitchFamily="34" charset="-120"/>
              </a:rPr>
              <a:t>E. Challenges Encountered (and Overcome)</a:t>
            </a:r>
            <a:endParaRPr lang="en-US" sz="2400" dirty="0"/>
          </a:p>
        </p:txBody>
      </p:sp>
      <p:sp>
        <p:nvSpPr>
          <p:cNvPr id="4" name="Text 1"/>
          <p:cNvSpPr/>
          <p:nvPr/>
        </p:nvSpPr>
        <p:spPr>
          <a:xfrm>
            <a:off x="381000" y="1106788"/>
            <a:ext cx="8549640" cy="317004"/>
          </a:xfrm>
          <a:prstGeom prst="rect">
            <a:avLst/>
          </a:prstGeom>
          <a:noFill/>
          <a:ln/>
        </p:spPr>
        <p:txBody>
          <a:bodyPr wrap="square" lIns="0" tIns="0" rIns="0" bIns="0" rtlCol="0" anchor="t"/>
          <a:lstStyle/>
          <a:p>
            <a:pPr marL="0" indent="0">
              <a:lnSpc>
                <a:spcPts val="2496"/>
              </a:lnSpc>
              <a:buNone/>
            </a:pPr>
            <a:r>
              <a:rPr lang="en-US" sz="1560" b="1" dirty="0">
                <a:solidFill>
                  <a:srgbClr val="FFB74D"/>
                </a:solidFill>
                <a:latin typeface="Segoe UI" pitchFamily="34" charset="0"/>
                <a:ea typeface="Segoe UI" pitchFamily="34" charset="-122"/>
                <a:cs typeface="Segoe UI" pitchFamily="34" charset="-120"/>
              </a:rPr>
              <a:t>Challenge 1: Understanding Voice Features</a:t>
            </a:r>
            <a:endParaRPr lang="en-US" sz="1560" dirty="0"/>
          </a:p>
        </p:txBody>
      </p:sp>
      <p:sp>
        <p:nvSpPr>
          <p:cNvPr id="5" name="Text 2"/>
          <p:cNvSpPr/>
          <p:nvPr/>
        </p:nvSpPr>
        <p:spPr>
          <a:xfrm>
            <a:off x="381000" y="1538092"/>
            <a:ext cx="8549640" cy="285055"/>
          </a:xfrm>
          <a:prstGeom prst="rect">
            <a:avLst/>
          </a:prstGeom>
          <a:noFill/>
          <a:ln/>
        </p:spPr>
        <p:txBody>
          <a:bodyPr wrap="square" lIns="0" tIns="0" rIns="0" bIns="0" rtlCol="0" anchor="t"/>
          <a:lstStyle/>
          <a:p>
            <a:pPr marL="0" indent="0">
              <a:lnSpc>
                <a:spcPts val="2244"/>
              </a:lnSpc>
              <a:buNone/>
            </a:pPr>
            <a:r>
              <a:rPr lang="en-US" sz="1320" b="1" dirty="0">
                <a:solidFill>
                  <a:srgbClr val="FFB74D"/>
                </a:solidFill>
                <a:latin typeface="Segoe UI" pitchFamily="34" charset="0"/>
                <a:ea typeface="Segoe UI" pitchFamily="34" charset="-122"/>
                <a:cs typeface="Segoe UI" pitchFamily="34" charset="-120"/>
              </a:rPr>
              <a:t>Issue:</a:t>
            </a:r>
            <a:r>
              <a:rPr lang="en-US" sz="1320" dirty="0">
                <a:solidFill>
                  <a:srgbClr val="F5F5F5"/>
                </a:solidFill>
                <a:latin typeface="Segoe UI" pitchFamily="34" charset="0"/>
                <a:ea typeface="Segoe UI" pitchFamily="34" charset="-122"/>
                <a:cs typeface="Segoe UI" pitchFamily="34" charset="-120"/>
              </a:rPr>
              <a:t> 16 technical measurements (Jitter:RAP, Shimmer:APQ5, DFA, etc.) → needed interpretation</a:t>
            </a:r>
            <a:endParaRPr lang="en-US" sz="1320" dirty="0"/>
          </a:p>
        </p:txBody>
      </p:sp>
      <p:sp>
        <p:nvSpPr>
          <p:cNvPr id="6" name="Text 3"/>
          <p:cNvSpPr/>
          <p:nvPr/>
        </p:nvSpPr>
        <p:spPr>
          <a:xfrm>
            <a:off x="381000" y="1966020"/>
            <a:ext cx="8549640" cy="285055"/>
          </a:xfrm>
          <a:prstGeom prst="rect">
            <a:avLst/>
          </a:prstGeom>
          <a:noFill/>
          <a:ln/>
        </p:spPr>
        <p:txBody>
          <a:bodyPr wrap="square" lIns="0" tIns="0" rIns="0" bIns="0" rtlCol="0" anchor="t"/>
          <a:lstStyle/>
          <a:p>
            <a:pPr marL="0" indent="0">
              <a:lnSpc>
                <a:spcPts val="2244"/>
              </a:lnSpc>
              <a:buNone/>
            </a:pPr>
            <a:r>
              <a:rPr lang="en-US" sz="1320" b="1" dirty="0">
                <a:solidFill>
                  <a:srgbClr val="FFB74D"/>
                </a:solidFill>
                <a:latin typeface="Segoe UI" pitchFamily="34" charset="0"/>
                <a:ea typeface="Segoe UI" pitchFamily="34" charset="-122"/>
                <a:cs typeface="Segoe UI" pitchFamily="34" charset="-120"/>
              </a:rPr>
              <a:t>Solution:</a:t>
            </a:r>
            <a:r>
              <a:rPr lang="en-US" sz="1320" dirty="0">
                <a:solidFill>
                  <a:srgbClr val="F5F5F5"/>
                </a:solidFill>
                <a:latin typeface="Segoe UI" pitchFamily="34" charset="0"/>
                <a:ea typeface="Segoe UI" pitchFamily="34" charset="-122"/>
                <a:cs typeface="Segoe UI" pitchFamily="34" charset="-120"/>
              </a:rPr>
              <a:t> Reviewed UCI documentation + voice signal processing literature</a:t>
            </a:r>
            <a:endParaRPr lang="en-US" sz="1320" dirty="0"/>
          </a:p>
        </p:txBody>
      </p:sp>
      <p:sp>
        <p:nvSpPr>
          <p:cNvPr id="7" name="Text 4"/>
          <p:cNvSpPr/>
          <p:nvPr/>
        </p:nvSpPr>
        <p:spPr>
          <a:xfrm>
            <a:off x="381000" y="2393952"/>
            <a:ext cx="8549640" cy="317004"/>
          </a:xfrm>
          <a:prstGeom prst="rect">
            <a:avLst/>
          </a:prstGeom>
          <a:noFill/>
          <a:ln/>
        </p:spPr>
        <p:txBody>
          <a:bodyPr wrap="square" lIns="0" tIns="0" rIns="0" bIns="0" rtlCol="0" anchor="t"/>
          <a:lstStyle/>
          <a:p>
            <a:pPr marL="0" indent="0">
              <a:lnSpc>
                <a:spcPts val="2496"/>
              </a:lnSpc>
              <a:buNone/>
            </a:pPr>
            <a:r>
              <a:rPr lang="en-US" sz="1560" b="1" dirty="0">
                <a:solidFill>
                  <a:srgbClr val="FFB74D"/>
                </a:solidFill>
                <a:latin typeface="Segoe UI" pitchFamily="34" charset="0"/>
                <a:ea typeface="Segoe UI" pitchFamily="34" charset="-122"/>
                <a:cs typeface="Segoe UI" pitchFamily="34" charset="-120"/>
              </a:rPr>
              <a:t>Challenge 2: Visualizations for 22 Features</a:t>
            </a:r>
            <a:endParaRPr lang="en-US" sz="1560" dirty="0"/>
          </a:p>
        </p:txBody>
      </p:sp>
      <p:sp>
        <p:nvSpPr>
          <p:cNvPr id="8" name="Text 5"/>
          <p:cNvSpPr/>
          <p:nvPr/>
        </p:nvSpPr>
        <p:spPr>
          <a:xfrm>
            <a:off x="381000" y="2825255"/>
            <a:ext cx="8549640" cy="285055"/>
          </a:xfrm>
          <a:prstGeom prst="rect">
            <a:avLst/>
          </a:prstGeom>
          <a:noFill/>
          <a:ln/>
        </p:spPr>
        <p:txBody>
          <a:bodyPr wrap="square" lIns="0" tIns="0" rIns="0" bIns="0" rtlCol="0" anchor="t"/>
          <a:lstStyle/>
          <a:p>
            <a:pPr marL="0" indent="0">
              <a:lnSpc>
                <a:spcPts val="2244"/>
              </a:lnSpc>
              <a:buNone/>
            </a:pPr>
            <a:r>
              <a:rPr lang="en-US" sz="1320" b="1" dirty="0">
                <a:solidFill>
                  <a:srgbClr val="FFB74D"/>
                </a:solidFill>
                <a:latin typeface="Segoe UI" pitchFamily="34" charset="0"/>
                <a:ea typeface="Segoe UI" pitchFamily="34" charset="-122"/>
                <a:cs typeface="Segoe UI" pitchFamily="34" charset="-120"/>
              </a:rPr>
              <a:t>Issue:</a:t>
            </a:r>
            <a:r>
              <a:rPr lang="en-US" sz="1320" dirty="0">
                <a:solidFill>
                  <a:srgbClr val="F5F5F5"/>
                </a:solidFill>
                <a:latin typeface="Segoe UI" pitchFamily="34" charset="0"/>
                <a:ea typeface="Segoe UI" pitchFamily="34" charset="-122"/>
                <a:cs typeface="Segoe UI" pitchFamily="34" charset="-120"/>
              </a:rPr>
              <a:t> Too many features to visualize effectively → risk of information overload</a:t>
            </a:r>
            <a:endParaRPr lang="en-US" sz="1320" dirty="0"/>
          </a:p>
        </p:txBody>
      </p:sp>
      <p:sp>
        <p:nvSpPr>
          <p:cNvPr id="9" name="Text 6"/>
          <p:cNvSpPr/>
          <p:nvPr/>
        </p:nvSpPr>
        <p:spPr>
          <a:xfrm>
            <a:off x="381000" y="3253187"/>
            <a:ext cx="8549640" cy="285055"/>
          </a:xfrm>
          <a:prstGeom prst="rect">
            <a:avLst/>
          </a:prstGeom>
          <a:noFill/>
          <a:ln/>
        </p:spPr>
        <p:txBody>
          <a:bodyPr wrap="square" lIns="0" tIns="0" rIns="0" bIns="0" rtlCol="0" anchor="t"/>
          <a:lstStyle/>
          <a:p>
            <a:pPr marL="0" indent="0">
              <a:lnSpc>
                <a:spcPts val="2244"/>
              </a:lnSpc>
              <a:buNone/>
            </a:pPr>
            <a:r>
              <a:rPr lang="en-US" sz="1320" b="1" dirty="0">
                <a:solidFill>
                  <a:srgbClr val="FFB74D"/>
                </a:solidFill>
                <a:latin typeface="Segoe UI" pitchFamily="34" charset="0"/>
                <a:ea typeface="Segoe UI" pitchFamily="34" charset="-122"/>
                <a:cs typeface="Segoe UI" pitchFamily="34" charset="-120"/>
              </a:rPr>
              <a:t>Solution:</a:t>
            </a:r>
            <a:r>
              <a:rPr lang="en-US" sz="1320" dirty="0">
                <a:solidFill>
                  <a:srgbClr val="F5F5F5"/>
                </a:solidFill>
                <a:latin typeface="Segoe UI" pitchFamily="34" charset="0"/>
                <a:ea typeface="Segoe UI" pitchFamily="34" charset="-122"/>
                <a:cs typeface="Segoe UI" pitchFamily="34" charset="-120"/>
              </a:rPr>
              <a:t> Prioritized: correlation heatmap, distributions, temporal patterns</a:t>
            </a:r>
            <a:endParaRPr lang="en-US" sz="1320" dirty="0"/>
          </a:p>
        </p:txBody>
      </p:sp>
      <p:sp>
        <p:nvSpPr>
          <p:cNvPr id="10" name="Text 7"/>
          <p:cNvSpPr/>
          <p:nvPr/>
        </p:nvSpPr>
        <p:spPr>
          <a:xfrm>
            <a:off x="381000" y="3681115"/>
            <a:ext cx="8549640" cy="317004"/>
          </a:xfrm>
          <a:prstGeom prst="rect">
            <a:avLst/>
          </a:prstGeom>
          <a:noFill/>
          <a:ln/>
        </p:spPr>
        <p:txBody>
          <a:bodyPr wrap="square" lIns="0" tIns="0" rIns="0" bIns="0" rtlCol="0" anchor="t"/>
          <a:lstStyle/>
          <a:p>
            <a:pPr marL="0" indent="0">
              <a:lnSpc>
                <a:spcPts val="2496"/>
              </a:lnSpc>
              <a:buNone/>
            </a:pPr>
            <a:r>
              <a:rPr lang="en-US" sz="1560" b="1" dirty="0">
                <a:solidFill>
                  <a:srgbClr val="FFB74D"/>
                </a:solidFill>
                <a:latin typeface="Segoe UI" pitchFamily="34" charset="0"/>
                <a:ea typeface="Segoe UI" pitchFamily="34" charset="-122"/>
                <a:cs typeface="Segoe UI" pitchFamily="34" charset="-120"/>
              </a:rPr>
              <a:t>Challenge 3: Repeated Measures Structure</a:t>
            </a:r>
            <a:endParaRPr lang="en-US" sz="1560" dirty="0"/>
          </a:p>
        </p:txBody>
      </p:sp>
      <p:sp>
        <p:nvSpPr>
          <p:cNvPr id="11" name="Text 8"/>
          <p:cNvSpPr/>
          <p:nvPr/>
        </p:nvSpPr>
        <p:spPr>
          <a:xfrm>
            <a:off x="381000" y="4112419"/>
            <a:ext cx="8549640" cy="285055"/>
          </a:xfrm>
          <a:prstGeom prst="rect">
            <a:avLst/>
          </a:prstGeom>
          <a:noFill/>
          <a:ln/>
        </p:spPr>
        <p:txBody>
          <a:bodyPr wrap="square" lIns="0" tIns="0" rIns="0" bIns="0" rtlCol="0" anchor="t"/>
          <a:lstStyle/>
          <a:p>
            <a:pPr marL="0" indent="0">
              <a:lnSpc>
                <a:spcPts val="2244"/>
              </a:lnSpc>
              <a:buNone/>
            </a:pPr>
            <a:r>
              <a:rPr lang="en-US" sz="1320" b="1" dirty="0">
                <a:solidFill>
                  <a:srgbClr val="FFB74D"/>
                </a:solidFill>
                <a:latin typeface="Segoe UI" pitchFamily="34" charset="0"/>
                <a:ea typeface="Segoe UI" pitchFamily="34" charset="-122"/>
                <a:cs typeface="Segoe UI" pitchFamily="34" charset="-120"/>
              </a:rPr>
              <a:t>Issue:</a:t>
            </a:r>
            <a:r>
              <a:rPr lang="en-US" sz="1320" dirty="0">
                <a:solidFill>
                  <a:srgbClr val="F5F5F5"/>
                </a:solidFill>
                <a:latin typeface="Segoe UI" pitchFamily="34" charset="0"/>
                <a:ea typeface="Segoe UI" pitchFamily="34" charset="-122"/>
                <a:cs typeface="Segoe UI" pitchFamily="34" charset="-120"/>
              </a:rPr>
              <a:t> ~140 recordings per patient → data leakage risk in train/test split</a:t>
            </a:r>
            <a:endParaRPr lang="en-US" sz="1320" dirty="0"/>
          </a:p>
        </p:txBody>
      </p:sp>
      <p:sp>
        <p:nvSpPr>
          <p:cNvPr id="12" name="Text 9"/>
          <p:cNvSpPr/>
          <p:nvPr/>
        </p:nvSpPr>
        <p:spPr>
          <a:xfrm>
            <a:off x="381000" y="4540351"/>
            <a:ext cx="8549640" cy="285055"/>
          </a:xfrm>
          <a:prstGeom prst="rect">
            <a:avLst/>
          </a:prstGeom>
          <a:noFill/>
          <a:ln/>
        </p:spPr>
        <p:txBody>
          <a:bodyPr wrap="square" lIns="0" tIns="0" rIns="0" bIns="0" rtlCol="0" anchor="t"/>
          <a:lstStyle/>
          <a:p>
            <a:pPr marL="0" indent="0">
              <a:lnSpc>
                <a:spcPts val="2244"/>
              </a:lnSpc>
              <a:buNone/>
            </a:pPr>
            <a:r>
              <a:rPr lang="en-US" sz="1320" b="1" dirty="0">
                <a:solidFill>
                  <a:srgbClr val="FFB74D"/>
                </a:solidFill>
                <a:latin typeface="Segoe UI" pitchFamily="34" charset="0"/>
                <a:ea typeface="Segoe UI" pitchFamily="34" charset="-122"/>
                <a:cs typeface="Segoe UI" pitchFamily="34" charset="-120"/>
              </a:rPr>
              <a:t>Solution:</a:t>
            </a:r>
            <a:r>
              <a:rPr lang="en-US" sz="1320" dirty="0">
                <a:solidFill>
                  <a:srgbClr val="F5F5F5"/>
                </a:solidFill>
                <a:latin typeface="Segoe UI" pitchFamily="34" charset="0"/>
                <a:ea typeface="Segoe UI" pitchFamily="34" charset="-122"/>
                <a:cs typeface="Segoe UI" pitchFamily="34" charset="-120"/>
              </a:rPr>
              <a:t> Identified need for </a:t>
            </a:r>
            <a:r>
              <a:rPr lang="en-US" sz="1320" b="1" dirty="0">
                <a:solidFill>
                  <a:srgbClr val="FFB74D"/>
                </a:solidFill>
                <a:latin typeface="Segoe UI" pitchFamily="34" charset="0"/>
                <a:ea typeface="Segoe UI" pitchFamily="34" charset="-122"/>
                <a:cs typeface="Segoe UI" pitchFamily="34" charset="-120"/>
              </a:rPr>
              <a:t>patient-level</a:t>
            </a:r>
            <a:r>
              <a:rPr lang="en-US" sz="1320" dirty="0">
                <a:solidFill>
                  <a:srgbClr val="F5F5F5"/>
                </a:solidFill>
                <a:latin typeface="Segoe UI" pitchFamily="34" charset="0"/>
                <a:ea typeface="Segoe UI" pitchFamily="34" charset="-122"/>
                <a:cs typeface="Segoe UI" pitchFamily="34" charset="-120"/>
              </a:rPr>
              <a:t> stratification</a:t>
            </a:r>
            <a:endParaRPr lang="en-US" sz="132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4" name="Text 1"/>
          <p:cNvSpPr/>
          <p:nvPr/>
        </p:nvSpPr>
        <p:spPr>
          <a:xfrm>
            <a:off x="381000" y="381000"/>
            <a:ext cx="8549640" cy="487660"/>
          </a:xfrm>
          <a:prstGeom prst="rect">
            <a:avLst/>
          </a:prstGeom>
          <a:ln/>
        </p:spPr>
        <p:style>
          <a:lnRef idx="2">
            <a:schemeClr val="dk1"/>
          </a:lnRef>
          <a:fillRef idx="1">
            <a:schemeClr val="lt1"/>
          </a:fillRef>
          <a:effectRef idx="0">
            <a:schemeClr val="dk1"/>
          </a:effectRef>
          <a:fontRef idx="minor">
            <a:schemeClr val="dk1"/>
          </a:fontRef>
        </p:style>
        <p:txBody>
          <a:bodyPr wrap="square" lIns="0" tIns="0" rIns="0" bIns="0" rtlCol="0" anchor="t"/>
          <a:lstStyle/>
          <a:p>
            <a:pPr marL="0" indent="0" algn="ctr">
              <a:lnSpc>
                <a:spcPts val="3840"/>
              </a:lnSpc>
              <a:buNone/>
            </a:pPr>
            <a:r>
              <a:rPr lang="en-US" sz="2400" b="1" dirty="0">
                <a:solidFill>
                  <a:srgbClr val="81C784"/>
                </a:solidFill>
                <a:latin typeface="Segoe UI" pitchFamily="34" charset="0"/>
                <a:ea typeface="Segoe UI" pitchFamily="34" charset="-122"/>
                <a:cs typeface="Segoe UI" pitchFamily="34" charset="-120"/>
              </a:rPr>
              <a:t>F: Roadmap to Final Demo</a:t>
            </a:r>
            <a:endParaRPr lang="en-US" sz="2400" dirty="0"/>
          </a:p>
        </p:txBody>
      </p:sp>
      <p:sp>
        <p:nvSpPr>
          <p:cNvPr id="8" name="Text 5"/>
          <p:cNvSpPr/>
          <p:nvPr/>
        </p:nvSpPr>
        <p:spPr>
          <a:xfrm>
            <a:off x="4279302" y="5153676"/>
            <a:ext cx="3857625" cy="996553"/>
          </a:xfrm>
          <a:prstGeom prst="rect">
            <a:avLst/>
          </a:prstGeom>
          <a:noFill/>
          <a:ln/>
        </p:spPr>
        <p:txBody>
          <a:bodyPr wrap="square" lIns="0" tIns="0" rIns="0" bIns="0" rtlCol="0" anchor="t"/>
          <a:lstStyle/>
          <a:p>
            <a:pPr marL="342900" indent="-342900">
              <a:lnSpc>
                <a:spcPts val="1920"/>
              </a:lnSpc>
              <a:buSzPct val="100000"/>
              <a:buChar char="•"/>
            </a:pPr>
            <a:endParaRPr lang="en-US" sz="1200" dirty="0"/>
          </a:p>
        </p:txBody>
      </p:sp>
      <p:sp>
        <p:nvSpPr>
          <p:cNvPr id="12" name="Text 3"/>
          <p:cNvSpPr/>
          <p:nvPr/>
        </p:nvSpPr>
        <p:spPr>
          <a:xfrm>
            <a:off x="368046" y="1012544"/>
            <a:ext cx="8122158" cy="487660"/>
          </a:xfrm>
          <a:prstGeom prst="rect">
            <a:avLst/>
          </a:prstGeom>
          <a:noFill/>
          <a:ln/>
        </p:spPr>
        <p:txBody>
          <a:bodyPr wrap="square" lIns="0" tIns="0" rIns="0" bIns="0" rtlCol="0" anchor="t"/>
          <a:lstStyle/>
          <a:p>
            <a:pPr marL="0" indent="0">
              <a:lnSpc>
                <a:spcPts val="2244"/>
              </a:lnSpc>
              <a:buNone/>
            </a:pPr>
            <a:r>
              <a:rPr lang="en-US" sz="2400" b="1" dirty="0">
                <a:solidFill>
                  <a:srgbClr val="FFB74D"/>
                </a:solidFill>
                <a:latin typeface="Times New Roman" panose="02020603050405020304" pitchFamily="18" charset="0"/>
                <a:ea typeface="Segoe UI" pitchFamily="34" charset="-122"/>
                <a:cs typeface="Times New Roman" panose="02020603050405020304" pitchFamily="18" charset="0"/>
              </a:rPr>
              <a:t>Conclusion</a:t>
            </a:r>
            <a:r>
              <a:rPr lang="en-US" b="1" dirty="0">
                <a:solidFill>
                  <a:srgbClr val="FFB74D"/>
                </a:solidFill>
                <a:latin typeface="Times New Roman" panose="02020603050405020304" pitchFamily="18" charset="0"/>
                <a:ea typeface="Segoe UI" pitchFamily="34" charset="-122"/>
                <a:cs typeface="Times New Roman" panose="02020603050405020304" pitchFamily="18" charset="0"/>
              </a:rPr>
              <a:t>:</a:t>
            </a:r>
            <a:endParaRPr lang="en-US" sz="1500" dirty="0">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10383FB1-A0E0-F4A6-C415-B7EE0CD24DE2}"/>
              </a:ext>
            </a:extLst>
          </p:cNvPr>
          <p:cNvSpPr txBox="1"/>
          <p:nvPr/>
        </p:nvSpPr>
        <p:spPr>
          <a:xfrm>
            <a:off x="302559" y="1441483"/>
            <a:ext cx="8706522" cy="2067233"/>
          </a:xfrm>
          <a:prstGeom prst="rect">
            <a:avLst/>
          </a:prstGeom>
          <a:noFill/>
        </p:spPr>
        <p:txBody>
          <a:bodyPr wrap="square" rtlCol="0">
            <a:spAutoFit/>
          </a:bodyPr>
          <a:lstStyle/>
          <a:p>
            <a:r>
              <a:rPr lang="en-US" sz="1400" dirty="0">
                <a:latin typeface="Times New Roman" panose="02020603050405020304" pitchFamily="18" charset="0"/>
                <a:cs typeface="Times New Roman" panose="02020603050405020304" pitchFamily="18" charset="0"/>
              </a:rPr>
              <a:t>As a fresher to machine learning, this EDA phase helped me understand the structure and scale of the Parkinsons Telemonitoring dataset before jumping into modeling. I learned that even though the dataset is relatively small in file size, it has a rich structure: repeated measures per patient, multiple correlated voice features, and clinically meaningful continuous targets (UPDRS scores).Visualizing the distribution of </a:t>
            </a:r>
            <a:r>
              <a:rPr lang="en-US" sz="1400" dirty="0" err="1">
                <a:latin typeface="Times New Roman" panose="02020603050405020304" pitchFamily="18" charset="0"/>
                <a:cs typeface="Times New Roman" panose="02020603050405020304" pitchFamily="18" charset="0"/>
              </a:rPr>
              <a:t>motor_UPDRS</a:t>
            </a:r>
            <a:r>
              <a:rPr lang="en-US" sz="1400" dirty="0">
                <a:latin typeface="Times New Roman" panose="02020603050405020304" pitchFamily="18" charset="0"/>
                <a:cs typeface="Times New Roman" panose="02020603050405020304" pitchFamily="18" charset="0"/>
              </a:rPr>
              <a:t> and its correlation with voice features gave me an intuitive sense that voice‑based prediction is plausible but likely not perfectly linear, which will influence my choice of regression models in later weeks.</a:t>
            </a:r>
          </a:p>
          <a:p>
            <a:endParaRPr lang="en-US" sz="1400" dirty="0">
              <a:latin typeface="Times New Roman" panose="02020603050405020304" pitchFamily="18" charset="0"/>
              <a:cs typeface="Times New Roman" panose="02020603050405020304" pitchFamily="18" charset="0"/>
            </a:endParaRPr>
          </a:p>
          <a:p>
            <a:pPr>
              <a:lnSpc>
                <a:spcPts val="2244"/>
              </a:lnSpc>
            </a:pPr>
            <a:r>
              <a:rPr lang="en-US" sz="1400" b="1" dirty="0">
                <a:solidFill>
                  <a:srgbClr val="FFB74D"/>
                </a:solidFill>
                <a:latin typeface="Times New Roman" panose="02020603050405020304" pitchFamily="18" charset="0"/>
                <a:ea typeface="Segoe UI" pitchFamily="34" charset="-122"/>
                <a:cs typeface="Times New Roman" panose="02020603050405020304" pitchFamily="18" charset="0"/>
              </a:rPr>
              <a:t>Preliminary EDA </a:t>
            </a:r>
            <a:r>
              <a:rPr lang="en-US" sz="1400" dirty="0">
                <a:latin typeface="Times New Roman" panose="02020603050405020304" pitchFamily="18" charset="0"/>
                <a:ea typeface="Segoe UI" pitchFamily="34" charset="-122"/>
                <a:cs typeface="Times New Roman" panose="02020603050405020304" pitchFamily="18" charset="0"/>
              </a:rPr>
              <a:t>confirms</a:t>
            </a:r>
            <a:r>
              <a:rPr lang="en-US" sz="1400" b="1" dirty="0">
                <a:solidFill>
                  <a:srgbClr val="FFB74D"/>
                </a:solidFill>
                <a:latin typeface="Times New Roman" panose="02020603050405020304" pitchFamily="18" charset="0"/>
                <a:ea typeface="Segoe UI" pitchFamily="34" charset="-122"/>
                <a:cs typeface="Times New Roman" panose="02020603050405020304" pitchFamily="18" charset="0"/>
              </a:rPr>
              <a:t> Feasibility</a:t>
            </a:r>
            <a:r>
              <a:rPr lang="en-US" sz="1400" dirty="0">
                <a:solidFill>
                  <a:srgbClr val="F5F5F5"/>
                </a:solidFill>
                <a:latin typeface="Times New Roman" panose="02020603050405020304" pitchFamily="18" charset="0"/>
                <a:ea typeface="Segoe UI" pitchFamily="34" charset="-122"/>
                <a:cs typeface="Times New Roman" panose="02020603050405020304" pitchFamily="18" charset="0"/>
              </a:rPr>
              <a:t> of voice-based prediction for Parkinson's disease severity.</a:t>
            </a:r>
            <a:endParaRPr lang="en-US" sz="1400" dirty="0">
              <a:latin typeface="Times New Roman" panose="02020603050405020304" pitchFamily="18" charset="0"/>
              <a:cs typeface="Times New Roman" panose="02020603050405020304" pitchFamily="18" charset="0"/>
            </a:endParaRPr>
          </a:p>
          <a:p>
            <a:endParaRPr lang="en-US" sz="1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5" name="Text 2"/>
          <p:cNvSpPr/>
          <p:nvPr/>
        </p:nvSpPr>
        <p:spPr>
          <a:xfrm>
            <a:off x="381000" y="381000"/>
            <a:ext cx="8549640" cy="487660"/>
          </a:xfrm>
          <a:prstGeom prst="rect">
            <a:avLst/>
          </a:prstGeom>
          <a:noFill/>
          <a:ln/>
        </p:spPr>
        <p:txBody>
          <a:bodyPr wrap="square" lIns="0" tIns="0" rIns="0" bIns="0" rtlCol="0" anchor="t"/>
          <a:lstStyle/>
          <a:p>
            <a:pPr marL="0" indent="0">
              <a:lnSpc>
                <a:spcPts val="3840"/>
              </a:lnSpc>
              <a:buNone/>
            </a:pPr>
            <a:r>
              <a:rPr lang="en-US" sz="2400" b="1" dirty="0">
                <a:solidFill>
                  <a:srgbClr val="FFC000"/>
                </a:solidFill>
                <a:latin typeface="Times New Roman" panose="02020603050405020304" pitchFamily="18" charset="0"/>
                <a:cs typeface="Times New Roman" panose="02020603050405020304" pitchFamily="18" charset="0"/>
              </a:rPr>
              <a:t>Next Steps:</a:t>
            </a:r>
            <a:endParaRPr lang="en-US" sz="2400" dirty="0">
              <a:solidFill>
                <a:srgbClr val="FFC000"/>
              </a:solidFill>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3116D51D-6ECA-F949-A1E2-C81DD6DFC4BA}"/>
              </a:ext>
            </a:extLst>
          </p:cNvPr>
          <p:cNvSpPr txBox="1"/>
          <p:nvPr/>
        </p:nvSpPr>
        <p:spPr>
          <a:xfrm>
            <a:off x="313765" y="1016204"/>
            <a:ext cx="8480612" cy="2875146"/>
          </a:xfrm>
          <a:prstGeom prst="rect">
            <a:avLst/>
          </a:prstGeom>
          <a:noFill/>
        </p:spPr>
        <p:txBody>
          <a:bodyPr wrap="square">
            <a:spAutoFit/>
          </a:bodyPr>
          <a:lstStyle/>
          <a:p>
            <a:r>
              <a:rPr lang="en-US" sz="1400" dirty="0">
                <a:latin typeface="Times New Roman" panose="02020603050405020304" pitchFamily="18" charset="0"/>
                <a:cs typeface="Times New Roman" panose="02020603050405020304" pitchFamily="18" charset="0"/>
              </a:rPr>
              <a:t>The main challenge I noticed is multicollinearity among the jitter and shimmer measures, so in the next phase I plan to explore feature scaling, regularization (ridge/lasso), and possibly dimensionality reduction to stabilize the models while keeping the interpretation as clear as possible.</a:t>
            </a:r>
          </a:p>
          <a:p>
            <a:endParaRPr lang="en-US" sz="1400" dirty="0">
              <a:latin typeface="Times New Roman" panose="02020603050405020304" pitchFamily="18" charset="0"/>
              <a:cs typeface="Times New Roman" panose="02020603050405020304" pitchFamily="18" charset="0"/>
            </a:endParaRPr>
          </a:p>
          <a:p>
            <a:pPr marL="342900" indent="-342900">
              <a:lnSpc>
                <a:spcPts val="1920"/>
              </a:lnSpc>
              <a:buSzPct val="100000"/>
              <a:buChar char="•"/>
            </a:pPr>
            <a:r>
              <a:rPr lang="en-US" sz="1400" dirty="0">
                <a:solidFill>
                  <a:srgbClr val="F5F5F5"/>
                </a:solidFill>
                <a:latin typeface="Segoe UI" pitchFamily="34" charset="0"/>
                <a:ea typeface="Segoe UI" pitchFamily="34" charset="-122"/>
                <a:cs typeface="Segoe UI" pitchFamily="34" charset="-120"/>
              </a:rPr>
              <a:t>Baseline: Linear regression</a:t>
            </a:r>
            <a:endParaRPr lang="en-US" sz="1400" dirty="0"/>
          </a:p>
          <a:p>
            <a:pPr marL="342900" indent="-342900">
              <a:lnSpc>
                <a:spcPts val="1920"/>
              </a:lnSpc>
              <a:buSzPct val="100000"/>
              <a:buChar char="•"/>
            </a:pPr>
            <a:r>
              <a:rPr lang="en-US" sz="1400" dirty="0">
                <a:solidFill>
                  <a:srgbClr val="F5F5F5"/>
                </a:solidFill>
                <a:latin typeface="Segoe UI" pitchFamily="34" charset="0"/>
                <a:ea typeface="Segoe UI" pitchFamily="34" charset="-122"/>
                <a:cs typeface="Segoe UI" pitchFamily="34" charset="-120"/>
              </a:rPr>
              <a:t>Ridge &amp; Lasso (regularization)</a:t>
            </a:r>
            <a:endParaRPr lang="en-US" sz="1400" dirty="0"/>
          </a:p>
          <a:p>
            <a:pPr marL="342900" indent="-342900">
              <a:lnSpc>
                <a:spcPts val="1920"/>
              </a:lnSpc>
              <a:buSzPct val="100000"/>
              <a:buChar char="•"/>
            </a:pPr>
            <a:r>
              <a:rPr lang="en-US" sz="1400" dirty="0">
                <a:solidFill>
                  <a:srgbClr val="F5F5F5"/>
                </a:solidFill>
                <a:latin typeface="Segoe UI" pitchFamily="34" charset="0"/>
                <a:ea typeface="Segoe UI" pitchFamily="34" charset="-122"/>
                <a:cs typeface="Segoe UI" pitchFamily="34" charset="-120"/>
              </a:rPr>
              <a:t>Random forest or boosting</a:t>
            </a:r>
          </a:p>
          <a:p>
            <a:pPr marL="342900" indent="-342900">
              <a:lnSpc>
                <a:spcPts val="1920"/>
              </a:lnSpc>
              <a:buSzPct val="100000"/>
              <a:buChar char="•"/>
            </a:pPr>
            <a:r>
              <a:rPr lang="en-US" sz="1400" dirty="0">
                <a:solidFill>
                  <a:srgbClr val="F5F5F5"/>
                </a:solidFill>
                <a:latin typeface="Segoe UI" pitchFamily="34" charset="0"/>
                <a:ea typeface="Segoe UI" pitchFamily="34" charset="-122"/>
                <a:cs typeface="Segoe UI" pitchFamily="34" charset="-120"/>
              </a:rPr>
              <a:t>Patient-level train/test split (70% / 30%)</a:t>
            </a:r>
            <a:endParaRPr lang="en-US" sz="1400" dirty="0"/>
          </a:p>
          <a:p>
            <a:pPr marL="342900" indent="-342900">
              <a:lnSpc>
                <a:spcPts val="1920"/>
              </a:lnSpc>
              <a:buSzPct val="100000"/>
              <a:buChar char="•"/>
            </a:pPr>
            <a:r>
              <a:rPr lang="en-US" sz="1400" dirty="0">
                <a:solidFill>
                  <a:srgbClr val="F5F5F5"/>
                </a:solidFill>
                <a:latin typeface="Segoe UI" pitchFamily="34" charset="0"/>
                <a:ea typeface="Segoe UI" pitchFamily="34" charset="-122"/>
                <a:cs typeface="Segoe UI" pitchFamily="34" charset="-120"/>
              </a:rPr>
              <a:t>Metrics: RMSE, R², MAE; cross-validation</a:t>
            </a:r>
            <a:endParaRPr lang="en-US" sz="1400" dirty="0"/>
          </a:p>
          <a:p>
            <a:pPr marL="342900" indent="-342900">
              <a:lnSpc>
                <a:spcPts val="1920"/>
              </a:lnSpc>
              <a:buSzPct val="100000"/>
              <a:buChar char="•"/>
            </a:pPr>
            <a:r>
              <a:rPr lang="en-US" sz="1400" dirty="0">
                <a:solidFill>
                  <a:srgbClr val="F5F5F5"/>
                </a:solidFill>
                <a:latin typeface="Segoe UI" pitchFamily="34" charset="0"/>
                <a:ea typeface="Segoe UI" pitchFamily="34" charset="-122"/>
                <a:cs typeface="Segoe UI" pitchFamily="34" charset="-120"/>
              </a:rPr>
              <a:t>Interpretation &amp; limitations discussion</a:t>
            </a:r>
            <a:endParaRPr lang="en-US" sz="1400" dirty="0"/>
          </a:p>
          <a:p>
            <a:pPr marL="342900" indent="-342900">
              <a:lnSpc>
                <a:spcPts val="1920"/>
              </a:lnSpc>
              <a:buSzPct val="100000"/>
              <a:buChar char="•"/>
            </a:pPr>
            <a:endParaRPr lang="en-US" sz="1400" dirty="0"/>
          </a:p>
          <a:p>
            <a:endParaRPr lang="en-US" sz="1400" dirty="0">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B34DEAA7-97D4-433D-CFC3-0002FB76ECE1}"/>
              </a:ext>
            </a:extLst>
          </p:cNvPr>
          <p:cNvSpPr txBox="1"/>
          <p:nvPr/>
        </p:nvSpPr>
        <p:spPr>
          <a:xfrm>
            <a:off x="210671" y="4015068"/>
            <a:ext cx="7440706" cy="1107996"/>
          </a:xfrm>
          <a:prstGeom prst="rect">
            <a:avLst/>
          </a:prstGeom>
          <a:noFill/>
        </p:spPr>
        <p:txBody>
          <a:bodyPr wrap="square" rtlCol="0">
            <a:spAutoFit/>
          </a:bodyPr>
          <a:lstStyle/>
          <a:p>
            <a:pPr algn="ctr"/>
            <a:r>
              <a:rPr lang="en-US" sz="6600" dirty="0">
                <a:latin typeface="Algerian" panose="04020705040A02060702" pitchFamily="82" charset="0"/>
              </a:rPr>
              <a:t>THANK YOU</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EC76B5"/>
      </a:hlink>
      <a:folHlink>
        <a:srgbClr val="E8ACCD"/>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A207AED3-9ABC-4A18-9978-A59B65688B1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Ion</Template>
  <TotalTime>269</TotalTime>
  <Words>2033</Words>
  <Application>Microsoft Office PowerPoint</Application>
  <PresentationFormat>On-screen Show (16:9)</PresentationFormat>
  <Paragraphs>234</Paragraphs>
  <Slides>21</Slides>
  <Notes>9</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21</vt:i4>
      </vt:variant>
    </vt:vector>
  </HeadingPairs>
  <TitlesOfParts>
    <vt:vector size="30" baseType="lpstr">
      <vt:lpstr>Algerian</vt:lpstr>
      <vt:lpstr>Aptos</vt:lpstr>
      <vt:lpstr>Arial</vt:lpstr>
      <vt:lpstr>Century Gothic</vt:lpstr>
      <vt:lpstr>Segoe UI</vt:lpstr>
      <vt:lpstr>Symbol</vt:lpstr>
      <vt:lpstr>Times New Roman</vt:lpstr>
      <vt:lpstr>Wingdings 3</vt:lpstr>
      <vt:lpstr>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Perplexity 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Converted Presentation</dc:title>
  <dc:subject>PptxGenJS Presentation</dc:subject>
  <dc:creator>Perplexity</dc:creator>
  <cp:lastModifiedBy>mohammed suleman</cp:lastModifiedBy>
  <cp:revision>2</cp:revision>
  <dcterms:created xsi:type="dcterms:W3CDTF">2026-03-18T02:02:36Z</dcterms:created>
  <dcterms:modified xsi:type="dcterms:W3CDTF">2026-03-19T00:59:53Z</dcterms:modified>
</cp:coreProperties>
</file>